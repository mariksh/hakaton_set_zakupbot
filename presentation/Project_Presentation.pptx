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My name is Marat Sharapov from Innopolis University, group CSE-04.</a:t>
            </a:r>
          </a:p>
          <a:p>
            <a:r>
              <a:t>I present Procurement Tracker — a mobile web application designed for marketplace sellers who need accurate per-unit cost calculations across all their procurement expenses.</a:t>
            </a:r>
          </a:p>
          <a:p>
            <a:r>
              <a:t>The full source code is available at github.com/MarikSH/Hakaton_SET_ZakupBot.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explain the context.</a:t>
            </a:r>
          </a:p>
          <a:p/>
          <a:p>
            <a:r>
              <a:t>Our end users are marketplace sellers on platforms like Wildberries and Ozon — people who buy goods wholesale and resell them. They also include small business owners and procurement managers.</a:t>
            </a:r>
          </a:p>
          <a:p/>
          <a:p>
            <a:r>
              <a:t>The problem: these sellers often miscalculate their true per-unit cost because they don't properly distribute overhead expenses like delivery, packaging, warehouse rent, and worker salaries. This leads to incorrect pricing, underestimated costs, and ultimately — lost profits.</a:t>
            </a:r>
          </a:p>
          <a:p/>
          <a:p>
            <a:r>
              <a:t>Our solution is simple: enter your procurement, add all expenses in natural language, and the system automatically calculates the exact cost per unit of goods. The key formula is: total_all_expenses divided by quantity_of_goods equals true cost per product.</a:t>
            </a:r>
          </a:p>
          <a:p>
            <a:r>
              <a:t>This enables accurate profit analysis and informed pricing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walk you through the implementation.</a:t>
            </a:r>
          </a:p>
          <a:p/>
          <a:p>
            <a:r>
              <a:t>Tech Stack: The backend is built on FastAPI with PostgreSQL as the database and SQLAlchemy as the ORM. The frontend uses React with Vite as the bundler and TailwindCSS for styling. We added PWA support so users can install the app on their phones, full i18n for both Russian and English, and PDF report export using jsPDF with Cyrillic font support. Deployment is handled via Docker Compose — one command to spin up everything locally.</a:t>
            </a:r>
          </a:p>
          <a:p/>
          <a:p>
            <a:r>
              <a:t>Version 1 was our MVP: we built the core API endpoints, implemented the NLP expense parser that can categorize free-text expenses into 6 categories using over 100 keywords in both Russian and English, and implemented the core formula: price_per_unit plus overhead divided by quantity.</a:t>
            </a:r>
          </a:p>
          <a:p/>
          <a:p>
            <a:r>
              <a:t>Version 2 transformed it into a real product: we added PWA capabilities, full internationalization, PDF export of cost reports, procurement status tracking, a history screen to review past procurements, a dark theme, and budget control with visual progress bars and overspend alerts.</a:t>
            </a:r>
          </a:p>
          <a:p/>
          <a:p>
            <a:r>
              <a:t>Key TA feedback we addressed:</a:t>
            </a:r>
          </a:p>
          <a:p>
            <a:r>
              <a:t>1. Expanded the NLP parser from 5 to 6+ categories with bilingual keywords.</a:t>
            </a:r>
          </a:p>
          <a:p>
            <a:r>
              <a:t>2. Added budget control with visual progress bars and overspend alerts.</a:t>
            </a:r>
          </a:p>
          <a:p>
            <a:r>
              <a:t>3. Improved the UI with history screen, settings, and dark theme support.</a:t>
            </a:r>
          </a:p>
          <a:p>
            <a:r>
              <a:t>4. Added PDF export for professional reporting.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part of the presentation — the live demonstration of Version 2.</a:t>
            </a:r>
          </a:p>
          <a:p/>
          <a:p>
            <a:r>
              <a:t>The demo video walkthrough covers these steps:</a:t>
            </a:r>
          </a:p>
          <a:p/>
          <a:p>
            <a:r>
              <a:t>1. Create Procurement: I start by entering a procurement name and budget of 200,000 rubles.</a:t>
            </a:r>
          </a:p>
          <a:p>
            <a:r>
              <a:t>2. Add Products: I add 100 units at 1,000 rubles each — that's 100,000 rubles in goods cost.</a:t>
            </a:r>
          </a:p>
          <a:p>
            <a:r>
              <a:t>3. NLP Expense Parsing: I type free-text expenses like 'delivery 3000, packaging 40 per unit' — the system automatically categorizes these into delivery and packaging expenses.</a:t>
            </a:r>
          </a:p>
          <a:p>
            <a:r>
              <a:t>4. View Report: The system calculates the per-unit cost as 1,070 rubles per unit, which includes the base price plus the proportional share of all overhead expenses.</a:t>
            </a:r>
          </a:p>
          <a:p>
            <a:r>
              <a:t>5. Export PDF: I download a professional PDF report with the full cost breakdown.</a:t>
            </a:r>
          </a:p>
          <a:p>
            <a:r>
              <a:t>6. Complete and History: I mark the procurement as completed, and it appears in the history screen.</a:t>
            </a:r>
          </a:p>
          <a:p/>
          <a:p>
            <a:r>
              <a:t>Please replace the video placeholder with your actual screen recording. The video should be no longer than 2 minutes and include voice-over narration.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key links for this project.</a:t>
            </a:r>
          </a:p>
          <a:p/>
          <a:p>
            <a:r>
              <a:t>GitHub Repository: github.com/MarikSH/Hakaton_SET_ZakupBot</a:t>
            </a:r>
          </a:p>
          <a:p>
            <a:r>
              <a:t>This contains the complete source code for both backend and frontend, including Docker Compose configuration for one-command deployment.</a:t>
            </a:r>
          </a:p>
          <a:p/>
          <a:p>
            <a:r>
              <a:t>Deployed Product: The URL placeholder will be replaced after deployment. I have three options for deployment:</a:t>
            </a:r>
          </a:p>
          <a:p>
            <a:r>
              <a:t>Option A — the simplest — is to rent a VPS server for about 500 rubles per month, install Docker, and run docker-compose up.</a:t>
            </a:r>
          </a:p>
          <a:p>
            <a:r>
              <a:t>Option B — split deployment: backend to Railway on their free tier, and frontend to Vercel for free static hosting.</a:t>
            </a:r>
          </a:p>
          <a:p>
            <a:r>
              <a:t>Option C — for temporary access — use ngrok to create a public tunnel to the local server.</a:t>
            </a:r>
          </a:p>
          <a:p/>
          <a:p>
            <a:r>
              <a:t>After deployment, I will replace the URL placeholder and generate proper QR codes using qrserver.com/create-qr-code.</a:t>
            </a:r>
          </a:p>
          <a:p/>
          <a:p>
            <a:r>
              <a:t>Thank you for your attention. I'm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0" y="731520"/>
            <a:ext cx="914400" cy="914400"/>
          </a:xfrm>
          <a:prstGeom prst="rect">
            <a:avLst/>
          </a:prstGeom>
          <a:noFill/>
        </p:spPr>
        <p:txBody>
          <a:bodyPr wrap="square">
            <a:spAutoFit/>
          </a:bodyPr>
          <a:lstStyle/>
          <a:p>
            <a:pPr algn="ctr">
              <a:defRPr sz="5200" b="0">
                <a:solidFill>
                  <a:srgbClr val="334155"/>
                </a:solidFill>
                <a:latin typeface="Calibri"/>
              </a:defRPr>
            </a:pPr>
            <a:r>
              <a:t>📦</a:t>
            </a:r>
          </a:p>
        </p:txBody>
      </p:sp>
      <p:sp>
        <p:nvSpPr>
          <p:cNvPr id="4" name="TextBox 3"/>
          <p:cNvSpPr txBox="1"/>
          <p:nvPr/>
        </p:nvSpPr>
        <p:spPr>
          <a:xfrm>
            <a:off x="1371600" y="1645920"/>
            <a:ext cx="9418320" cy="1097280"/>
          </a:xfrm>
          <a:prstGeom prst="rect">
            <a:avLst/>
          </a:prstGeom>
          <a:noFill/>
        </p:spPr>
        <p:txBody>
          <a:bodyPr wrap="square">
            <a:spAutoFit/>
          </a:bodyPr>
          <a:lstStyle/>
          <a:p>
            <a:pPr algn="ctr">
              <a:defRPr sz="4400" b="1">
                <a:solidFill>
                  <a:srgbClr val="3B82F6"/>
                </a:solidFill>
                <a:latin typeface="Calibri Light"/>
              </a:defRPr>
            </a:pPr>
            <a:r>
              <a:t>Procurement Tracker</a:t>
            </a:r>
          </a:p>
        </p:txBody>
      </p:sp>
      <p:sp>
        <p:nvSpPr>
          <p:cNvPr id="5" name="TextBox 4"/>
          <p:cNvSpPr txBox="1"/>
          <p:nvPr/>
        </p:nvSpPr>
        <p:spPr>
          <a:xfrm>
            <a:off x="1371600" y="2651760"/>
            <a:ext cx="9418320" cy="731520"/>
          </a:xfrm>
          <a:prstGeom prst="rect">
            <a:avLst/>
          </a:prstGeom>
          <a:noFill/>
        </p:spPr>
        <p:txBody>
          <a:bodyPr wrap="square">
            <a:spAutoFit/>
          </a:bodyPr>
          <a:lstStyle/>
          <a:p>
            <a:pPr algn="ctr">
              <a:defRPr sz="2000" b="0">
                <a:solidFill>
                  <a:srgbClr val="64748B"/>
                </a:solidFill>
                <a:latin typeface="Calibri"/>
              </a:defRPr>
            </a:pPr>
            <a:r>
              <a:t>Mobile web app for marketplace sellers — tracking procurement costs with per-unit cost analysis and budget control</a:t>
            </a:r>
          </a:p>
        </p:txBody>
      </p:sp>
      <p:sp>
        <p:nvSpPr>
          <p:cNvPr id="6" name="Rectangle 5"/>
          <p:cNvSpPr/>
          <p:nvPr/>
        </p:nvSpPr>
        <p:spPr>
          <a:xfrm>
            <a:off x="5029200" y="3566160"/>
            <a:ext cx="210312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931920"/>
            <a:ext cx="9418320" cy="2286000"/>
          </a:xfrm>
          <a:prstGeom prst="rect">
            <a:avLst/>
          </a:prstGeom>
          <a:noFill/>
        </p:spPr>
        <p:txBody>
          <a:bodyPr wrap="square">
            <a:spAutoFit/>
          </a:bodyPr>
          <a:lstStyle/>
          <a:p>
            <a:pPr algn="ctr">
              <a:defRPr sz="2200" b="1">
                <a:solidFill>
                  <a:srgbClr val="1E3A5F"/>
                </a:solidFill>
                <a:latin typeface="Calibri"/>
              </a:defRPr>
            </a:pPr>
            <a:r>
              <a:t>Marat Sharapov</a:t>
            </a:r>
          </a:p>
          <a:p>
            <a:pPr algn="ctr">
              <a:spcBef>
                <a:spcPts val="600"/>
              </a:spcBef>
              <a:defRPr sz="1800" b="0">
                <a:solidFill>
                  <a:srgbClr val="64748B"/>
                </a:solidFill>
                <a:latin typeface="Calibri"/>
              </a:defRPr>
            </a:pPr>
            <a:r>
              <a:t>m.sharapov@innopolis.university</a:t>
            </a:r>
          </a:p>
          <a:p>
            <a:pPr algn="ctr">
              <a:spcBef>
                <a:spcPts val="600"/>
              </a:spcBef>
              <a:defRPr sz="1800" b="0">
                <a:solidFill>
                  <a:srgbClr val="64748B"/>
                </a:solidFill>
                <a:latin typeface="Calibri"/>
              </a:defRPr>
            </a:pPr>
            <a:r>
              <a:t>Group CSE-04</a:t>
            </a:r>
          </a:p>
          <a:p>
            <a:pPr algn="ctr">
              <a:spcBef>
                <a:spcPts val="600"/>
              </a:spcBef>
              <a:defRPr sz="1200" b="0">
                <a:solidFill>
                  <a:srgbClr val="334155"/>
                </a:solidFill>
                <a:latin typeface="Calibri"/>
              </a:defRPr>
            </a:pPr>
          </a:p>
          <a:p>
            <a:pPr algn="ctr">
              <a:spcBef>
                <a:spcPts val="600"/>
              </a:spcBef>
              <a:defRPr sz="1600" b="1">
                <a:solidFill>
                  <a:srgbClr val="3B82F6"/>
                </a:solidFill>
                <a:latin typeface="Calibri"/>
              </a:defRPr>
            </a:pPr>
            <a:r>
              <a:t>GitHub: github.com/MarikSH/Hakaton_SET_ZakupBot</a:t>
            </a:r>
          </a:p>
        </p:txBody>
      </p:sp>
      <p:sp>
        <p:nvSpPr>
          <p:cNvPr id="8" name="Rectangle 7"/>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4572000" cy="640080"/>
          </a:xfrm>
          <a:prstGeom prst="rect">
            <a:avLst/>
          </a:prstGeom>
          <a:noFill/>
        </p:spPr>
        <p:txBody>
          <a:bodyPr wrap="square">
            <a:spAutoFit/>
          </a:bodyPr>
          <a:lstStyle/>
          <a:p>
            <a:pPr algn="l">
              <a:defRPr sz="3200" b="1">
                <a:solidFill>
                  <a:srgbClr val="1E3A5F"/>
                </a:solidFill>
                <a:latin typeface="Calibri"/>
              </a:defRPr>
            </a:pPr>
            <a:r>
              <a:t>📋  Context</a:t>
            </a:r>
          </a:p>
        </p:txBody>
      </p:sp>
      <p:sp>
        <p:nvSpPr>
          <p:cNvPr id="4" name="Rounded Rectangle 3"/>
          <p:cNvSpPr/>
          <p:nvPr/>
        </p:nvSpPr>
        <p:spPr>
          <a:xfrm>
            <a:off x="731520" y="1097280"/>
            <a:ext cx="10698480" cy="1463040"/>
          </a:xfrm>
          <a:prstGeom prst="roundRect">
            <a:avLst/>
          </a:prstGeom>
          <a:solidFill>
            <a:srgbClr val="EFF6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188720"/>
            <a:ext cx="10058400" cy="1280160"/>
          </a:xfrm>
          <a:prstGeom prst="rect">
            <a:avLst/>
          </a:prstGeom>
          <a:noFill/>
        </p:spPr>
        <p:txBody>
          <a:bodyPr wrap="square">
            <a:spAutoFit/>
          </a:bodyPr>
          <a:lstStyle/>
          <a:p>
            <a:pPr algn="l">
              <a:defRPr sz="2200" b="1">
                <a:solidFill>
                  <a:srgbClr val="1E3A5F"/>
                </a:solidFill>
                <a:latin typeface="Calibri"/>
              </a:defRPr>
            </a:pPr>
            <a:r>
              <a:t>👤  End Users</a:t>
            </a:r>
          </a:p>
          <a:p>
            <a:pPr algn="l">
              <a:spcBef>
                <a:spcPts val="600"/>
              </a:spcBef>
              <a:defRPr sz="1800" b="0">
                <a:solidFill>
                  <a:srgbClr val="334155"/>
                </a:solidFill>
                <a:latin typeface="Calibri"/>
              </a:defRPr>
            </a:pPr>
            <a:r>
              <a:t>Marketplace sellers (Wildberries, Ozon), small business owners, and entrepreneurs who procure goods wholesale and need precise per-unit cost tracking including delivery, packaging, staff, and warehouse expenses.</a:t>
            </a:r>
          </a:p>
        </p:txBody>
      </p:sp>
      <p:sp>
        <p:nvSpPr>
          <p:cNvPr id="6" name="Rounded Rectangle 5"/>
          <p:cNvSpPr/>
          <p:nvPr/>
        </p:nvSpPr>
        <p:spPr>
          <a:xfrm>
            <a:off x="731520" y="2834640"/>
            <a:ext cx="4846320" cy="1828800"/>
          </a:xfrm>
          <a:prstGeom prst="roundRect">
            <a:avLst/>
          </a:prstGeom>
          <a:solidFill>
            <a:srgbClr val="FEF2F2"/>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926080"/>
            <a:ext cx="4389120" cy="1645920"/>
          </a:xfrm>
          <a:prstGeom prst="rect">
            <a:avLst/>
          </a:prstGeom>
          <a:noFill/>
        </p:spPr>
        <p:txBody>
          <a:bodyPr wrap="square">
            <a:spAutoFit/>
          </a:bodyPr>
          <a:lstStyle/>
          <a:p>
            <a:pPr algn="l">
              <a:defRPr sz="2100" b="1">
                <a:solidFill>
                  <a:srgbClr val="1E3A5F"/>
                </a:solidFill>
                <a:latin typeface="Calibri"/>
              </a:defRPr>
            </a:pPr>
            <a:r>
              <a:t>❌  Problem</a:t>
            </a:r>
          </a:p>
          <a:p>
            <a:pPr algn="l">
              <a:spcBef>
                <a:spcPts val="600"/>
              </a:spcBef>
              <a:defRPr sz="1700" b="0">
                <a:solidFill>
                  <a:srgbClr val="334155"/>
                </a:solidFill>
                <a:latin typeface="Calibri"/>
              </a:defRPr>
            </a:pPr>
            <a:r>
              <a:t>Entrepreneurs lose money from inaccurate cost calculations.</a:t>
            </a:r>
          </a:p>
          <a:p>
            <a:pPr algn="l">
              <a:spcBef>
                <a:spcPts val="600"/>
              </a:spcBef>
              <a:defRPr sz="1700" b="0">
                <a:solidFill>
                  <a:srgbClr val="334155"/>
                </a:solidFill>
                <a:latin typeface="Calibri"/>
              </a:defRPr>
            </a:pPr>
            <a:r>
              <a:t>Overhead expenses (delivery, packaging, warehouse, staff) are distributed manually.</a:t>
            </a:r>
          </a:p>
          <a:p>
            <a:pPr algn="l">
              <a:spcBef>
                <a:spcPts val="600"/>
              </a:spcBef>
              <a:defRPr sz="1700" b="0">
                <a:solidFill>
                  <a:srgbClr val="334155"/>
                </a:solidFill>
                <a:latin typeface="Calibri"/>
              </a:defRPr>
            </a:pPr>
            <a:r>
              <a:t>No budget control → overspending goes unnoticed until it's too late.</a:t>
            </a:r>
          </a:p>
        </p:txBody>
      </p:sp>
      <p:sp>
        <p:nvSpPr>
          <p:cNvPr id="8" name="Rounded Rectangle 7"/>
          <p:cNvSpPr/>
          <p:nvPr/>
        </p:nvSpPr>
        <p:spPr>
          <a:xfrm>
            <a:off x="6583680" y="2834640"/>
            <a:ext cx="4846320" cy="1828800"/>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926080"/>
            <a:ext cx="4389120" cy="1645920"/>
          </a:xfrm>
          <a:prstGeom prst="rect">
            <a:avLst/>
          </a:prstGeom>
          <a:noFill/>
        </p:spPr>
        <p:txBody>
          <a:bodyPr wrap="square">
            <a:spAutoFit/>
          </a:bodyPr>
          <a:lstStyle/>
          <a:p>
            <a:pPr algn="l">
              <a:defRPr sz="2100" b="1">
                <a:solidFill>
                  <a:srgbClr val="1E3A5F"/>
                </a:solidFill>
                <a:latin typeface="Calibri"/>
              </a:defRPr>
            </a:pPr>
            <a:r>
              <a:t>✅  Solution</a:t>
            </a:r>
          </a:p>
          <a:p>
            <a:pPr algn="l">
              <a:spcBef>
                <a:spcPts val="600"/>
              </a:spcBef>
              <a:defRPr sz="1700" b="0">
                <a:solidFill>
                  <a:srgbClr val="334155"/>
                </a:solidFill>
                <a:latin typeface="Calibri"/>
              </a:defRPr>
            </a:pPr>
            <a:r>
              <a:t>Automatic per-unit cost calculation: all expenses ÷ goods quantity = true cost per product.</a:t>
            </a:r>
          </a:p>
          <a:p>
            <a:pPr algn="l">
              <a:spcBef>
                <a:spcPts val="600"/>
              </a:spcBef>
              <a:defRPr sz="1700" b="0">
                <a:solidFill>
                  <a:srgbClr val="334155"/>
                </a:solidFill>
                <a:latin typeface="Calibri"/>
              </a:defRPr>
            </a:pPr>
            <a:r>
              <a:t>Visual budget tracking with progress bars and overspend alerts.</a:t>
            </a:r>
          </a:p>
          <a:p>
            <a:pPr algn="l">
              <a:spcBef>
                <a:spcPts val="600"/>
              </a:spcBef>
              <a:defRPr sz="1700" b="1">
                <a:solidFill>
                  <a:srgbClr val="334155"/>
                </a:solidFill>
                <a:latin typeface="Calibri"/>
              </a:defRPr>
            </a:pPr>
            <a:r>
              <a:t>One-sentence idea: "Enter your procurement, add expenses — get the exact cost per unit."</a:t>
            </a:r>
          </a:p>
        </p:txBody>
      </p:sp>
      <p:sp>
        <p:nvSpPr>
          <p:cNvPr id="10" name="TextBox 9"/>
          <p:cNvSpPr txBox="1"/>
          <p:nvPr/>
        </p:nvSpPr>
        <p:spPr>
          <a:xfrm>
            <a:off x="731520" y="5029200"/>
            <a:ext cx="10698480" cy="1371600"/>
          </a:xfrm>
          <a:prstGeom prst="rect">
            <a:avLst/>
          </a:prstGeom>
          <a:noFill/>
        </p:spPr>
        <p:txBody>
          <a:bodyPr wrap="square">
            <a:spAutoFit/>
          </a:bodyPr>
          <a:lstStyle/>
          <a:p>
            <a:pPr algn="l">
              <a:defRPr sz="1900" b="0">
                <a:solidFill>
                  <a:srgbClr val="1E3A5F"/>
                </a:solidFill>
                <a:latin typeface="Calibri"/>
              </a:defRPr>
            </a:pPr>
            <a:r>
              <a:t>💡  Key value: /per_unit endpoint totals ALL expenses ÷ goods quantity → true cost per product for accurate profit analysis and pricing decisions.</a:t>
            </a:r>
          </a:p>
        </p:txBody>
      </p:sp>
      <p:sp>
        <p:nvSpPr>
          <p:cNvPr id="11" name="Rectangle 10"/>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4572000" cy="640080"/>
          </a:xfrm>
          <a:prstGeom prst="rect">
            <a:avLst/>
          </a:prstGeom>
          <a:noFill/>
        </p:spPr>
        <p:txBody>
          <a:bodyPr wrap="square">
            <a:spAutoFit/>
          </a:bodyPr>
          <a:lstStyle/>
          <a:p>
            <a:pPr algn="l">
              <a:defRPr sz="3200" b="1">
                <a:solidFill>
                  <a:srgbClr val="1E3A5F"/>
                </a:solidFill>
                <a:latin typeface="Calibri"/>
              </a:defRPr>
            </a:pPr>
            <a:r>
              <a:t>⚙️  Implementation</a:t>
            </a:r>
          </a:p>
        </p:txBody>
      </p:sp>
      <p:sp>
        <p:nvSpPr>
          <p:cNvPr id="4" name="TextBox 3"/>
          <p:cNvSpPr txBox="1"/>
          <p:nvPr/>
        </p:nvSpPr>
        <p:spPr>
          <a:xfrm>
            <a:off x="731520" y="1005840"/>
            <a:ext cx="2743200" cy="457200"/>
          </a:xfrm>
          <a:prstGeom prst="rect">
            <a:avLst/>
          </a:prstGeom>
          <a:noFill/>
        </p:spPr>
        <p:txBody>
          <a:bodyPr wrap="square">
            <a:spAutoFit/>
          </a:bodyPr>
          <a:lstStyle/>
          <a:p>
            <a:pPr algn="l">
              <a:defRPr sz="1800" b="1">
                <a:solidFill>
                  <a:srgbClr val="1E3A5F"/>
                </a:solidFill>
                <a:latin typeface="Calibri"/>
              </a:defRPr>
            </a:pPr>
            <a:r>
              <a:t>Tech Stack:</a:t>
            </a:r>
          </a:p>
        </p:txBody>
      </p:sp>
      <p:sp>
        <p:nvSpPr>
          <p:cNvPr id="5" name="TextBox 4"/>
          <p:cNvSpPr txBox="1"/>
          <p:nvPr/>
        </p:nvSpPr>
        <p:spPr>
          <a:xfrm>
            <a:off x="731520" y="1417320"/>
            <a:ext cx="10698480" cy="1463040"/>
          </a:xfrm>
          <a:prstGeom prst="rect">
            <a:avLst/>
          </a:prstGeom>
          <a:noFill/>
        </p:spPr>
        <p:txBody>
          <a:bodyPr wrap="square">
            <a:spAutoFit/>
          </a:bodyPr>
          <a:lstStyle/>
          <a:p>
            <a:pPr algn="l">
              <a:defRPr sz="1700" b="0">
                <a:solidFill>
                  <a:srgbClr val="334155"/>
                </a:solidFill>
                <a:latin typeface="Calibri"/>
              </a:defRPr>
            </a:pPr>
            <a:r>
              <a:rPr sz="1700" b="1">
                <a:solidFill>
                  <a:srgbClr val="1E3A5F"/>
                </a:solidFill>
                <a:latin typeface="Calibri"/>
              </a:rPr>
              <a:t>▸ Backend: </a:t>
            </a:r>
            <a:r>
              <a:rPr sz="1700">
                <a:solidFill>
                  <a:srgbClr val="334155"/>
                </a:solidFill>
                <a:latin typeface="Calibri"/>
              </a:rPr>
              <a:t>FastAPI (Python REST API)</a:t>
            </a:r>
          </a:p>
          <a:p>
            <a:pPr>
              <a:spcBef>
                <a:spcPts val="400"/>
              </a:spcBef>
            </a:pPr>
            <a:r>
              <a:rPr sz="1700" b="1">
                <a:solidFill>
                  <a:srgbClr val="1E3A5F"/>
                </a:solidFill>
                <a:latin typeface="Calibri"/>
              </a:rPr>
              <a:t>▸ Database: </a:t>
            </a:r>
            <a:r>
              <a:rPr sz="1700">
                <a:solidFill>
                  <a:srgbClr val="334155"/>
                </a:solidFill>
                <a:latin typeface="Calibri"/>
              </a:rPr>
              <a:t>PostgreSQL + SQLAlchemy</a:t>
            </a:r>
          </a:p>
          <a:p>
            <a:pPr>
              <a:spcBef>
                <a:spcPts val="400"/>
              </a:spcBef>
            </a:pPr>
            <a:r>
              <a:rPr sz="1700" b="1">
                <a:solidFill>
                  <a:srgbClr val="1E3A5F"/>
                </a:solidFill>
                <a:latin typeface="Calibri"/>
              </a:rPr>
              <a:t>▸ Frontend: </a:t>
            </a:r>
            <a:r>
              <a:rPr sz="1700">
                <a:solidFill>
                  <a:srgbClr val="334155"/>
                </a:solidFill>
                <a:latin typeface="Calibri"/>
              </a:rPr>
              <a:t>React + Vite + TailwindCSS</a:t>
            </a:r>
          </a:p>
          <a:p>
            <a:pPr>
              <a:spcBef>
                <a:spcPts val="400"/>
              </a:spcBef>
            </a:pPr>
            <a:r>
              <a:rPr sz="1700" b="1">
                <a:solidFill>
                  <a:srgbClr val="1E3A5F"/>
                </a:solidFill>
                <a:latin typeface="Calibri"/>
              </a:rPr>
              <a:t>▸ Features: </a:t>
            </a:r>
            <a:r>
              <a:rPr sz="1700">
                <a:solidFill>
                  <a:srgbClr val="334155"/>
                </a:solidFill>
                <a:latin typeface="Calibri"/>
              </a:rPr>
              <a:t>PWA + i18n (RU/EN) + PDF export</a:t>
            </a:r>
          </a:p>
          <a:p>
            <a:pPr>
              <a:spcBef>
                <a:spcPts val="400"/>
              </a:spcBef>
            </a:pPr>
            <a:r>
              <a:rPr sz="1700" b="1">
                <a:solidFill>
                  <a:srgbClr val="1E3A5F"/>
                </a:solidFill>
                <a:latin typeface="Calibri"/>
              </a:rPr>
              <a:t>▸ Deploy: </a:t>
            </a:r>
            <a:r>
              <a:rPr sz="1700">
                <a:solidFill>
                  <a:srgbClr val="334155"/>
                </a:solidFill>
                <a:latin typeface="Calibri"/>
              </a:rPr>
              <a:t>Docker Compose → Railway/Vercel</a:t>
            </a:r>
          </a:p>
        </p:txBody>
      </p:sp>
      <p:sp>
        <p:nvSpPr>
          <p:cNvPr id="6" name="Rounded Rectangle 5"/>
          <p:cNvSpPr/>
          <p:nvPr/>
        </p:nvSpPr>
        <p:spPr>
          <a:xfrm>
            <a:off x="731520" y="3017520"/>
            <a:ext cx="5029200" cy="320040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63240"/>
            <a:ext cx="4572000" cy="3108960"/>
          </a:xfrm>
          <a:prstGeom prst="rect">
            <a:avLst/>
          </a:prstGeom>
          <a:noFill/>
        </p:spPr>
        <p:txBody>
          <a:bodyPr wrap="square">
            <a:spAutoFit/>
          </a:bodyPr>
          <a:lstStyle/>
          <a:p>
            <a:pPr algn="l">
              <a:defRPr sz="2100" b="1">
                <a:solidFill>
                  <a:srgbClr val="3B82F6"/>
                </a:solidFill>
                <a:latin typeface="Calibri"/>
              </a:defRPr>
            </a:pPr>
            <a:r>
              <a:t>🚀  Version 1.0 — MVP</a:t>
            </a:r>
          </a:p>
          <a:p>
            <a:pPr>
              <a:spcBef>
                <a:spcPts val="500"/>
              </a:spcBef>
              <a:defRPr sz="1700">
                <a:solidFill>
                  <a:srgbClr val="334155"/>
                </a:solidFill>
                <a:latin typeface="Calibri"/>
              </a:defRPr>
            </a:pPr>
            <a:r>
              <a:t>• Core API: create procurements, calculate expenses</a:t>
            </a:r>
          </a:p>
          <a:p>
            <a:pPr>
              <a:spcBef>
                <a:spcPts val="500"/>
              </a:spcBef>
              <a:defRPr sz="1700">
                <a:solidFill>
                  <a:srgbClr val="334155"/>
                </a:solidFill>
                <a:latin typeface="Calibri"/>
              </a:defRPr>
            </a:pPr>
            <a:r>
              <a:t>• NLP parser — 6 categories, 100+ keywords (RU/EN)</a:t>
            </a:r>
          </a:p>
          <a:p>
            <a:pPr>
              <a:spcBef>
                <a:spcPts val="500"/>
              </a:spcBef>
              <a:defRPr sz="1700">
                <a:solidFill>
                  <a:srgbClr val="334155"/>
                </a:solidFill>
                <a:latin typeface="Calibri"/>
              </a:defRPr>
            </a:pPr>
            <a:r>
              <a:t>• Formula: price_per_unit + (overhead ÷ qty)</a:t>
            </a:r>
          </a:p>
          <a:p>
            <a:pPr>
              <a:spcBef>
                <a:spcPts val="500"/>
              </a:spcBef>
              <a:defRPr sz="1700">
                <a:solidFill>
                  <a:srgbClr val="334155"/>
                </a:solidFill>
                <a:latin typeface="Calibri"/>
              </a:defRPr>
            </a:pPr>
            <a:r>
              <a:t>• Basic form UI for products + free-text expenses</a:t>
            </a:r>
          </a:p>
          <a:p>
            <a:pPr>
              <a:spcBef>
                <a:spcPts val="500"/>
              </a:spcBef>
              <a:defRPr sz="1700">
                <a:solidFill>
                  <a:srgbClr val="334155"/>
                </a:solidFill>
                <a:latin typeface="Calibri"/>
              </a:defRPr>
            </a:pPr>
            <a:r>
              <a:t>• Docker Compose one-command deployment</a:t>
            </a:r>
          </a:p>
        </p:txBody>
      </p:sp>
      <p:sp>
        <p:nvSpPr>
          <p:cNvPr id="8" name="Rounded Rectangle 7"/>
          <p:cNvSpPr/>
          <p:nvPr/>
        </p:nvSpPr>
        <p:spPr>
          <a:xfrm>
            <a:off x="6217920" y="3017520"/>
            <a:ext cx="5029200" cy="320040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3063240"/>
            <a:ext cx="4572000" cy="3108960"/>
          </a:xfrm>
          <a:prstGeom prst="rect">
            <a:avLst/>
          </a:prstGeom>
          <a:noFill/>
        </p:spPr>
        <p:txBody>
          <a:bodyPr wrap="square">
            <a:spAutoFit/>
          </a:bodyPr>
          <a:lstStyle/>
          <a:p>
            <a:pPr algn="l">
              <a:defRPr sz="2100" b="1">
                <a:solidFill>
                  <a:srgbClr val="22C55E"/>
                </a:solidFill>
                <a:latin typeface="Calibri"/>
              </a:defRPr>
            </a:pPr>
            <a:r>
              <a:t>🎯  Version 2.0 — Product</a:t>
            </a:r>
          </a:p>
          <a:p>
            <a:pPr>
              <a:spcBef>
                <a:spcPts val="400"/>
              </a:spcBef>
              <a:defRPr sz="1700">
                <a:solidFill>
                  <a:srgbClr val="334155"/>
                </a:solidFill>
                <a:latin typeface="Calibri"/>
              </a:defRPr>
            </a:pPr>
            <a:r>
              <a:t>• PWA — installable on mobile devices</a:t>
            </a:r>
          </a:p>
          <a:p>
            <a:pPr>
              <a:spcBef>
                <a:spcPts val="400"/>
              </a:spcBef>
              <a:defRPr sz="1700">
                <a:solidFill>
                  <a:srgbClr val="334155"/>
                </a:solidFill>
                <a:latin typeface="Calibri"/>
              </a:defRPr>
            </a:pPr>
            <a:r>
              <a:t>• i18n — full Russian + English localization</a:t>
            </a:r>
          </a:p>
          <a:p>
            <a:pPr>
              <a:spcBef>
                <a:spcPts val="400"/>
              </a:spcBef>
              <a:defRPr sz="1700">
                <a:solidFill>
                  <a:srgbClr val="334155"/>
                </a:solidFill>
                <a:latin typeface="Calibri"/>
              </a:defRPr>
            </a:pPr>
            <a:r>
              <a:t>• PDF export of cost reports (jsPDF + Roboto font)</a:t>
            </a:r>
          </a:p>
          <a:p>
            <a:pPr>
              <a:spcBef>
                <a:spcPts val="400"/>
              </a:spcBef>
              <a:defRPr sz="1700">
                <a:solidFill>
                  <a:srgbClr val="334155"/>
                </a:solidFill>
                <a:latin typeface="Calibri"/>
              </a:defRPr>
            </a:pPr>
            <a:r>
              <a:t>• Procurement statuses: active → completed</a:t>
            </a:r>
          </a:p>
          <a:p>
            <a:pPr>
              <a:spcBef>
                <a:spcPts val="400"/>
              </a:spcBef>
              <a:defRPr sz="1700">
                <a:solidFill>
                  <a:srgbClr val="334155"/>
                </a:solidFill>
                <a:latin typeface="Calibri"/>
              </a:defRPr>
            </a:pPr>
            <a:r>
              <a:t>• History screen — view and manage past procurements</a:t>
            </a:r>
          </a:p>
          <a:p>
            <a:pPr>
              <a:spcBef>
                <a:spcPts val="400"/>
              </a:spcBef>
              <a:defRPr sz="1700">
                <a:solidFill>
                  <a:srgbClr val="334155"/>
                </a:solidFill>
                <a:latin typeface="Calibri"/>
              </a:defRPr>
            </a:pPr>
            <a:r>
              <a:t>• Dark theme + settings modal</a:t>
            </a:r>
          </a:p>
          <a:p>
            <a:pPr>
              <a:spcBef>
                <a:spcPts val="400"/>
              </a:spcBef>
              <a:defRPr sz="1700">
                <a:solidFill>
                  <a:srgbClr val="334155"/>
                </a:solidFill>
                <a:latin typeface="Calibri"/>
              </a:defRPr>
            </a:pPr>
            <a:r>
              <a:t>• Budget control with visual alerts on overspending</a:t>
            </a:r>
          </a:p>
        </p:txBody>
      </p:sp>
      <p:sp>
        <p:nvSpPr>
          <p:cNvPr id="10" name="TextBox 9"/>
          <p:cNvSpPr txBox="1"/>
          <p:nvPr/>
        </p:nvSpPr>
        <p:spPr>
          <a:xfrm>
            <a:off x="731520" y="6309360"/>
            <a:ext cx="10972800" cy="365760"/>
          </a:xfrm>
          <a:prstGeom prst="rect">
            <a:avLst/>
          </a:prstGeom>
          <a:noFill/>
        </p:spPr>
        <p:txBody>
          <a:bodyPr wrap="square">
            <a:spAutoFit/>
          </a:bodyPr>
          <a:lstStyle/>
          <a:p>
            <a:pPr algn="l">
              <a:defRPr sz="1600" b="1">
                <a:solidFill>
                  <a:srgbClr val="22C55E"/>
                </a:solidFill>
                <a:latin typeface="Calibri"/>
              </a:defRPr>
            </a:pPr>
            <a:r>
              <a:t>✅  TA Feedback Addressed:</a:t>
            </a:r>
          </a:p>
        </p:txBody>
      </p:sp>
      <p:sp>
        <p:nvSpPr>
          <p:cNvPr id="11" name="Rectangle 10"/>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5486400" cy="640080"/>
          </a:xfrm>
          <a:prstGeom prst="rect">
            <a:avLst/>
          </a:prstGeom>
          <a:noFill/>
        </p:spPr>
        <p:txBody>
          <a:bodyPr wrap="square">
            <a:spAutoFit/>
          </a:bodyPr>
          <a:lstStyle/>
          <a:p>
            <a:pPr algn="l">
              <a:defRPr sz="3200" b="1">
                <a:solidFill>
                  <a:srgbClr val="1E3A5F"/>
                </a:solidFill>
                <a:latin typeface="Calibri"/>
              </a:defRPr>
            </a:pPr>
            <a:r>
              <a:t>🎬  Demo — Version 2.0</a:t>
            </a:r>
          </a:p>
        </p:txBody>
      </p:sp>
      <p:sp>
        <p:nvSpPr>
          <p:cNvPr id="4" name="Rounded Rectangle 3"/>
          <p:cNvSpPr/>
          <p:nvPr/>
        </p:nvSpPr>
        <p:spPr>
          <a:xfrm>
            <a:off x="731520" y="1097280"/>
            <a:ext cx="685800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6858000" cy="914400"/>
          </a:xfrm>
          <a:prstGeom prst="rect">
            <a:avLst/>
          </a:prstGeom>
          <a:noFill/>
        </p:spPr>
        <p:txBody>
          <a:bodyPr wrap="square">
            <a:spAutoFit/>
          </a:bodyPr>
          <a:lstStyle/>
          <a:p>
            <a:pPr algn="ctr">
              <a:defRPr sz="6000" b="0">
                <a:solidFill>
                  <a:srgbClr val="94A3B8"/>
                </a:solidFill>
                <a:latin typeface="Calibri"/>
              </a:defRPr>
            </a:pPr>
            <a:r>
              <a:t>🎥</a:t>
            </a:r>
          </a:p>
        </p:txBody>
      </p:sp>
      <p:sp>
        <p:nvSpPr>
          <p:cNvPr id="6" name="TextBox 5"/>
          <p:cNvSpPr txBox="1"/>
          <p:nvPr/>
        </p:nvSpPr>
        <p:spPr>
          <a:xfrm>
            <a:off x="731520" y="3200400"/>
            <a:ext cx="6858000" cy="548640"/>
          </a:xfrm>
          <a:prstGeom prst="rect">
            <a:avLst/>
          </a:prstGeom>
          <a:noFill/>
        </p:spPr>
        <p:txBody>
          <a:bodyPr wrap="square">
            <a:spAutoFit/>
          </a:bodyPr>
          <a:lstStyle/>
          <a:p>
            <a:pPr algn="ctr">
              <a:defRPr sz="2200" b="1">
                <a:solidFill>
                  <a:srgbClr val="94A3B8"/>
                </a:solidFill>
                <a:latin typeface="Calibri"/>
              </a:defRPr>
            </a:pPr>
            <a:r>
              <a:t>Pre-recorded Video Demonstration</a:t>
            </a:r>
          </a:p>
        </p:txBody>
      </p:sp>
      <p:sp>
        <p:nvSpPr>
          <p:cNvPr id="7" name="TextBox 6"/>
          <p:cNvSpPr txBox="1"/>
          <p:nvPr/>
        </p:nvSpPr>
        <p:spPr>
          <a:xfrm>
            <a:off x="731520" y="3749039"/>
            <a:ext cx="6858000" cy="1097280"/>
          </a:xfrm>
          <a:prstGeom prst="rect">
            <a:avLst/>
          </a:prstGeom>
          <a:noFill/>
        </p:spPr>
        <p:txBody>
          <a:bodyPr wrap="square">
            <a:spAutoFit/>
          </a:bodyPr>
          <a:lstStyle/>
          <a:p>
            <a:pPr algn="ctr">
              <a:defRPr sz="1500" b="0">
                <a:solidFill>
                  <a:srgbClr val="64748B"/>
                </a:solidFill>
                <a:latin typeface="Calibri"/>
              </a:defRPr>
            </a:pPr>
            <a:r>
              <a:t>Insert video here (mp4, ≤ 2 minutes with voice-over)</a:t>
            </a:r>
            <a:br/>
            <a:br/>
            <a:r>
              <a:t>To add: Insert → Video → This Device → select demo.mp4</a:t>
            </a:r>
          </a:p>
        </p:txBody>
      </p:sp>
      <p:sp>
        <p:nvSpPr>
          <p:cNvPr id="8" name="Rounded Rectangle 7"/>
          <p:cNvSpPr/>
          <p:nvPr/>
        </p:nvSpPr>
        <p:spPr>
          <a:xfrm>
            <a:off x="8046720" y="1097280"/>
            <a:ext cx="3474720" cy="4114800"/>
          </a:xfrm>
          <a:prstGeom prst="roundRect">
            <a:avLst/>
          </a:prstGeom>
          <a:solidFill>
            <a:srgbClr val="F8FAFC"/>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188720"/>
            <a:ext cx="3108960" cy="3931920"/>
          </a:xfrm>
          <a:prstGeom prst="rect">
            <a:avLst/>
          </a:prstGeom>
          <a:noFill/>
        </p:spPr>
        <p:txBody>
          <a:bodyPr wrap="square">
            <a:spAutoFit/>
          </a:bodyPr>
          <a:lstStyle/>
          <a:p>
            <a:pPr algn="l">
              <a:defRPr sz="2000" b="1">
                <a:solidFill>
                  <a:srgbClr val="1E3A5F"/>
                </a:solidFill>
                <a:latin typeface="Calibri"/>
              </a:defRPr>
            </a:pPr>
            <a:r>
              <a:t>📝  Demo Flow</a:t>
            </a:r>
          </a:p>
          <a:p>
            <a:pPr>
              <a:spcBef>
                <a:spcPts val="800"/>
              </a:spcBef>
              <a:defRPr sz="1500">
                <a:solidFill>
                  <a:srgbClr val="334155"/>
                </a:solidFill>
                <a:latin typeface="Calibri"/>
              </a:defRPr>
            </a:pPr>
            <a:r>
              <a:t>1️⃣  Create Procurement</a:t>
            </a:r>
            <a:br/>
            <a:r>
              <a:t>    Enter name + budget (200,000 ₽)</a:t>
            </a:r>
          </a:p>
          <a:p>
            <a:pPr>
              <a:spcBef>
                <a:spcPts val="800"/>
              </a:spcBef>
              <a:defRPr sz="1500">
                <a:solidFill>
                  <a:srgbClr val="334155"/>
                </a:solidFill>
                <a:latin typeface="Calibri"/>
              </a:defRPr>
            </a:pPr>
            <a:r>
              <a:t>2️⃣  Add Products</a:t>
            </a:r>
            <a:br/>
            <a:r>
              <a:t>    e.g., 100 units × 1,000 ₽</a:t>
            </a:r>
          </a:p>
          <a:p>
            <a:pPr>
              <a:spcBef>
                <a:spcPts val="800"/>
              </a:spcBef>
              <a:defRPr sz="1500">
                <a:solidFill>
                  <a:srgbClr val="334155"/>
                </a:solidFill>
                <a:latin typeface="Calibri"/>
              </a:defRPr>
            </a:pPr>
            <a:r>
              <a:t>3️⃣  NLP Expense Parse</a:t>
            </a:r>
            <a:br/>
            <a:r>
              <a:t>    "Delivery 3000, packaging 40/unit"</a:t>
            </a:r>
          </a:p>
          <a:p>
            <a:pPr>
              <a:spcBef>
                <a:spcPts val="800"/>
              </a:spcBef>
              <a:defRPr sz="1500">
                <a:solidFill>
                  <a:srgbClr val="334155"/>
                </a:solidFill>
                <a:latin typeface="Calibri"/>
              </a:defRPr>
            </a:pPr>
            <a:r>
              <a:t>4️⃣  View Report</a:t>
            </a:r>
            <a:br/>
            <a:r>
              <a:t>    Per-unit cost = 1,070 ₽/unit</a:t>
            </a:r>
          </a:p>
          <a:p>
            <a:pPr>
              <a:spcBef>
                <a:spcPts val="800"/>
              </a:spcBef>
              <a:defRPr sz="1500">
                <a:solidFill>
                  <a:srgbClr val="334155"/>
                </a:solidFill>
                <a:latin typeface="Calibri"/>
              </a:defRPr>
            </a:pPr>
            <a:r>
              <a:t>5️⃣  Export PDF</a:t>
            </a:r>
            <a:br/>
            <a:r>
              <a:t>    Download full cost report</a:t>
            </a:r>
          </a:p>
          <a:p>
            <a:pPr>
              <a:spcBef>
                <a:spcPts val="800"/>
              </a:spcBef>
              <a:defRPr sz="1500">
                <a:solidFill>
                  <a:srgbClr val="334155"/>
                </a:solidFill>
                <a:latin typeface="Calibri"/>
              </a:defRPr>
            </a:pPr>
            <a:r>
              <a:t>6️⃣  Complete + History</a:t>
            </a:r>
            <a:br/>
            <a:r>
              <a:t>    Mark done, review in history</a:t>
            </a:r>
          </a:p>
        </p:txBody>
      </p:sp>
      <p:sp>
        <p:nvSpPr>
          <p:cNvPr id="10" name="Rounded Rectangle 9"/>
          <p:cNvSpPr/>
          <p:nvPr/>
        </p:nvSpPr>
        <p:spPr>
          <a:xfrm>
            <a:off x="731520" y="5394960"/>
            <a:ext cx="6858000" cy="1188720"/>
          </a:xfrm>
          <a:prstGeom prst="roundRect">
            <a:avLst/>
          </a:prstGeom>
          <a:solidFill>
            <a:srgbClr val="FFFBEB"/>
          </a:solidFill>
          <a:ln w="25400">
            <a:solidFill>
              <a:srgbClr val="FBB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440680"/>
            <a:ext cx="6400800" cy="1097280"/>
          </a:xfrm>
          <a:prstGeom prst="rect">
            <a:avLst/>
          </a:prstGeom>
          <a:noFill/>
        </p:spPr>
        <p:txBody>
          <a:bodyPr wrap="square">
            <a:spAutoFit/>
          </a:bodyPr>
          <a:lstStyle/>
          <a:p>
            <a:pPr algn="l">
              <a:defRPr sz="1800" b="1">
                <a:solidFill>
                  <a:srgbClr val="1E3A5F"/>
                </a:solidFill>
                <a:latin typeface="Calibri"/>
              </a:defRPr>
            </a:pPr>
            <a:r>
              <a:t>⚠️  Most Important Slide</a:t>
            </a:r>
          </a:p>
          <a:p>
            <a:pPr algn="l">
              <a:spcBef>
                <a:spcPts val="600"/>
              </a:spcBef>
              <a:defRPr sz="1500" b="0">
                <a:solidFill>
                  <a:srgbClr val="334155"/>
                </a:solidFill>
                <a:latin typeface="Calibri"/>
              </a:defRPr>
            </a:pPr>
            <a:r>
              <a:t>The demo video is the most critical part of this presentation. It shows the complete V2 workflow: from procurement creation through NLP expense parsing to per-unit cost calculation and PDF export.</a:t>
            </a:r>
          </a:p>
        </p:txBody>
      </p:sp>
      <p:sp>
        <p:nvSpPr>
          <p:cNvPr id="12" name="Rectangle 11"/>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4572000" cy="640080"/>
          </a:xfrm>
          <a:prstGeom prst="rect">
            <a:avLst/>
          </a:prstGeom>
          <a:noFill/>
        </p:spPr>
        <p:txBody>
          <a:bodyPr wrap="square">
            <a:spAutoFit/>
          </a:bodyPr>
          <a:lstStyle/>
          <a:p>
            <a:pPr algn="l">
              <a:defRPr sz="3200" b="1">
                <a:solidFill>
                  <a:srgbClr val="1E3A5F"/>
                </a:solidFill>
                <a:latin typeface="Calibri"/>
              </a:defRPr>
            </a:pPr>
            <a:r>
              <a:t>🔗  Links &amp; QR Codes</a:t>
            </a:r>
          </a:p>
        </p:txBody>
      </p:sp>
      <p:sp>
        <p:nvSpPr>
          <p:cNvPr id="4" name="Rounded Rectangle 3"/>
          <p:cNvSpPr/>
          <p:nvPr/>
        </p:nvSpPr>
        <p:spPr>
          <a:xfrm>
            <a:off x="731520" y="1188720"/>
            <a:ext cx="10698480" cy="1371600"/>
          </a:xfrm>
          <a:prstGeom prst="roundRect">
            <a:avLst/>
          </a:prstGeom>
          <a:solidFill>
            <a:srgbClr val="F8FAFC"/>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280160"/>
            <a:ext cx="6858000" cy="1188720"/>
          </a:xfrm>
          <a:prstGeom prst="rect">
            <a:avLst/>
          </a:prstGeom>
          <a:noFill/>
        </p:spPr>
        <p:txBody>
          <a:bodyPr wrap="square">
            <a:spAutoFit/>
          </a:bodyPr>
          <a:lstStyle/>
          <a:p>
            <a:pPr algn="l">
              <a:defRPr sz="2200" b="1">
                <a:solidFill>
                  <a:srgbClr val="1E3A5F"/>
                </a:solidFill>
                <a:latin typeface="Calibri"/>
              </a:defRPr>
            </a:pPr>
            <a:r>
              <a:t>💻  GitHub Repository</a:t>
            </a:r>
          </a:p>
          <a:p>
            <a:pPr algn="l">
              <a:spcBef>
                <a:spcPts val="600"/>
              </a:spcBef>
              <a:defRPr sz="1800" b="1">
                <a:solidFill>
                  <a:srgbClr val="3B82F6"/>
                </a:solidFill>
                <a:latin typeface="Calibri"/>
              </a:defRPr>
            </a:pPr>
            <a:r>
              <a:t>github.com/MarikSH/Hakaton_SET_ZakupBot</a:t>
            </a:r>
          </a:p>
          <a:p>
            <a:pPr algn="l">
              <a:spcBef>
                <a:spcPts val="600"/>
              </a:spcBef>
              <a:defRPr sz="1600" b="0">
                <a:solidFill>
                  <a:srgbClr val="64748B"/>
                </a:solidFill>
                <a:latin typeface="Calibri"/>
              </a:defRPr>
            </a:pPr>
            <a:r>
              <a:t>Full source code — backend (FastAPI), frontend (React), Docker Compose config</a:t>
            </a:r>
          </a:p>
        </p:txBody>
      </p:sp>
      <p:sp>
        <p:nvSpPr>
          <p:cNvPr id="6" name="TextBox 5"/>
          <p:cNvSpPr txBox="1"/>
          <p:nvPr/>
        </p:nvSpPr>
        <p:spPr>
          <a:xfrm>
            <a:off x="8686800" y="1371600"/>
            <a:ext cx="2743200" cy="365760"/>
          </a:xfrm>
          <a:prstGeom prst="rect">
            <a:avLst/>
          </a:prstGeom>
          <a:noFill/>
        </p:spPr>
        <p:txBody>
          <a:bodyPr wrap="square">
            <a:spAutoFit/>
          </a:bodyPr>
          <a:lstStyle/>
          <a:p>
            <a:pPr algn="ctr">
              <a:defRPr sz="1400" b="1">
                <a:solidFill>
                  <a:srgbClr val="64748B"/>
                </a:solidFill>
                <a:latin typeface="Calibri"/>
              </a:defRPr>
            </a:pPr>
            <a:r>
              <a:t>QR: GitHub Repo</a:t>
            </a:r>
          </a:p>
        </p:txBody>
      </p:sp>
      <p:sp>
        <p:nvSpPr>
          <p:cNvPr id="7" name="Rounded Rectangle 6"/>
          <p:cNvSpPr/>
          <p:nvPr/>
        </p:nvSpPr>
        <p:spPr>
          <a:xfrm>
            <a:off x="8686800" y="1737360"/>
            <a:ext cx="2286000" cy="228600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86000"/>
            <a:ext cx="2286000" cy="1371600"/>
          </a:xfrm>
          <a:prstGeom prst="rect">
            <a:avLst/>
          </a:prstGeom>
          <a:noFill/>
        </p:spPr>
        <p:txBody>
          <a:bodyPr wrap="square">
            <a:spAutoFit/>
          </a:bodyPr>
          <a:lstStyle/>
          <a:p>
            <a:pPr algn="ctr">
              <a:defRPr sz="2400" b="0">
                <a:solidFill>
                  <a:srgbClr val="3B82F6"/>
                </a:solidFill>
                <a:latin typeface="Calibri"/>
              </a:defRPr>
            </a:pPr>
            <a:r>
              <a:t>📱</a:t>
            </a:r>
            <a:br/>
            <a:r>
              <a:t>[QR Code]</a:t>
            </a:r>
          </a:p>
        </p:txBody>
      </p:sp>
      <p:sp>
        <p:nvSpPr>
          <p:cNvPr id="9" name="TextBox 8"/>
          <p:cNvSpPr txBox="1"/>
          <p:nvPr/>
        </p:nvSpPr>
        <p:spPr>
          <a:xfrm>
            <a:off x="8686800" y="3566160"/>
            <a:ext cx="2286000" cy="457200"/>
          </a:xfrm>
          <a:prstGeom prst="rect">
            <a:avLst/>
          </a:prstGeom>
          <a:noFill/>
        </p:spPr>
        <p:txBody>
          <a:bodyPr wrap="square">
            <a:spAutoFit/>
          </a:bodyPr>
          <a:lstStyle/>
          <a:p>
            <a:pPr algn="ctr">
              <a:defRPr sz="1100" b="0">
                <a:solidFill>
                  <a:srgbClr val="64748B"/>
                </a:solidFill>
                <a:latin typeface="Calibri"/>
              </a:defRPr>
            </a:pPr>
            <a:r>
              <a:t>Scan to open repo</a:t>
            </a:r>
          </a:p>
        </p:txBody>
      </p:sp>
      <p:sp>
        <p:nvSpPr>
          <p:cNvPr id="10" name="Rounded Rectangle 9"/>
          <p:cNvSpPr/>
          <p:nvPr/>
        </p:nvSpPr>
        <p:spPr>
          <a:xfrm>
            <a:off x="731520" y="2926080"/>
            <a:ext cx="10698480" cy="1371600"/>
          </a:xfrm>
          <a:prstGeom prst="roundRect">
            <a:avLst/>
          </a:prstGeom>
          <a:solidFill>
            <a:srgbClr val="F8FAFC"/>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017520"/>
            <a:ext cx="6858000" cy="1188720"/>
          </a:xfrm>
          <a:prstGeom prst="rect">
            <a:avLst/>
          </a:prstGeom>
          <a:noFill/>
        </p:spPr>
        <p:txBody>
          <a:bodyPr wrap="square">
            <a:spAutoFit/>
          </a:bodyPr>
          <a:lstStyle/>
          <a:p>
            <a:pPr algn="l">
              <a:defRPr sz="2200" b="1">
                <a:solidFill>
                  <a:srgbClr val="1E3A5F"/>
                </a:solidFill>
                <a:latin typeface="Calibri"/>
              </a:defRPr>
            </a:pPr>
            <a:r>
              <a:t>🌐  Deployed Product (Latest Version)</a:t>
            </a:r>
          </a:p>
          <a:p>
            <a:pPr algn="l">
              <a:spcBef>
                <a:spcPts val="600"/>
              </a:spcBef>
              <a:defRPr sz="1800" b="1">
                <a:solidFill>
                  <a:srgbClr val="64748B"/>
                </a:solidFill>
                <a:latin typeface="Calibri"/>
              </a:defRPr>
            </a:pPr>
            <a:r>
              <a:t>[URL will be added after deployment]</a:t>
            </a:r>
          </a:p>
          <a:p>
            <a:pPr algn="l">
              <a:spcBef>
                <a:spcPts val="600"/>
              </a:spcBef>
              <a:defRPr sz="1600" b="0">
                <a:solidFill>
                  <a:srgbClr val="64748B"/>
                </a:solidFill>
                <a:latin typeface="Calibri"/>
              </a:defRPr>
            </a:pPr>
            <a:r>
              <a:t>Deploy via Docker Compose on VPS (Timeweb/Selectel) or split: Railway (backend) + Vercel (frontend)</a:t>
            </a:r>
          </a:p>
        </p:txBody>
      </p:sp>
      <p:sp>
        <p:nvSpPr>
          <p:cNvPr id="12" name="TextBox 11"/>
          <p:cNvSpPr txBox="1"/>
          <p:nvPr/>
        </p:nvSpPr>
        <p:spPr>
          <a:xfrm>
            <a:off x="8686800" y="3108960"/>
            <a:ext cx="2743200" cy="365760"/>
          </a:xfrm>
          <a:prstGeom prst="rect">
            <a:avLst/>
          </a:prstGeom>
          <a:noFill/>
        </p:spPr>
        <p:txBody>
          <a:bodyPr wrap="square">
            <a:spAutoFit/>
          </a:bodyPr>
          <a:lstStyle/>
          <a:p>
            <a:pPr algn="ctr">
              <a:defRPr sz="1400" b="1">
                <a:solidFill>
                  <a:srgbClr val="64748B"/>
                </a:solidFill>
                <a:latin typeface="Calibri"/>
              </a:defRPr>
            </a:pPr>
            <a:r>
              <a:t>QR: Deployed App</a:t>
            </a:r>
          </a:p>
        </p:txBody>
      </p:sp>
      <p:sp>
        <p:nvSpPr>
          <p:cNvPr id="13" name="Rounded Rectangle 12"/>
          <p:cNvSpPr/>
          <p:nvPr/>
        </p:nvSpPr>
        <p:spPr>
          <a:xfrm>
            <a:off x="8686800" y="3474720"/>
            <a:ext cx="2286000" cy="2286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4023360"/>
            <a:ext cx="2286000" cy="1371600"/>
          </a:xfrm>
          <a:prstGeom prst="rect">
            <a:avLst/>
          </a:prstGeom>
          <a:noFill/>
        </p:spPr>
        <p:txBody>
          <a:bodyPr wrap="square">
            <a:spAutoFit/>
          </a:bodyPr>
          <a:lstStyle/>
          <a:p>
            <a:pPr algn="ctr">
              <a:defRPr sz="2000" b="0">
                <a:solidFill>
                  <a:srgbClr val="64748B"/>
                </a:solidFill>
                <a:latin typeface="Calibri"/>
              </a:defRPr>
            </a:pPr>
            <a:r>
              <a:t>📱</a:t>
            </a:r>
            <a:br/>
            <a:r>
              <a:t>[QR Code</a:t>
            </a:r>
            <a:br/>
            <a:r>
              <a:t>after deploy]</a:t>
            </a:r>
          </a:p>
        </p:txBody>
      </p:sp>
      <p:sp>
        <p:nvSpPr>
          <p:cNvPr id="15" name="Rounded Rectangle 14"/>
          <p:cNvSpPr/>
          <p:nvPr/>
        </p:nvSpPr>
        <p:spPr>
          <a:xfrm>
            <a:off x="731520" y="4663440"/>
            <a:ext cx="7498079" cy="1828800"/>
          </a:xfrm>
          <a:prstGeom prst="roundRect">
            <a:avLst/>
          </a:prstGeom>
          <a:solidFill>
            <a:srgbClr val="FFFBEB"/>
          </a:solidFill>
          <a:ln w="25400">
            <a:solidFill>
              <a:srgbClr val="FBB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709160"/>
            <a:ext cx="7040880" cy="1737360"/>
          </a:xfrm>
          <a:prstGeom prst="rect">
            <a:avLst/>
          </a:prstGeom>
          <a:noFill/>
        </p:spPr>
        <p:txBody>
          <a:bodyPr wrap="square">
            <a:spAutoFit/>
          </a:bodyPr>
          <a:lstStyle/>
          <a:p>
            <a:pPr algn="l">
              <a:defRPr sz="1900" b="1">
                <a:solidFill>
                  <a:srgbClr val="1E3A5F"/>
                </a:solidFill>
                <a:latin typeface="Calibri"/>
              </a:defRPr>
            </a:pPr>
            <a:r>
              <a:t>📝  How to Deploy for Public Access</a:t>
            </a:r>
          </a:p>
          <a:p>
            <a:pPr>
              <a:spcBef>
                <a:spcPts val="400"/>
              </a:spcBef>
              <a:defRPr sz="1500">
                <a:solidFill>
                  <a:srgbClr val="334155"/>
                </a:solidFill>
                <a:latin typeface="Calibri"/>
              </a:defRPr>
            </a:pPr>
            <a:r>
              <a:t>▸ Option A (easiest): Rent a VPS (~500₽/mo), install Docker, run docker-compose up -d</a:t>
            </a:r>
          </a:p>
          <a:p>
            <a:pPr>
              <a:spcBef>
                <a:spcPts val="400"/>
              </a:spcBef>
              <a:defRPr sz="1500">
                <a:solidFill>
                  <a:srgbClr val="334155"/>
                </a:solidFill>
                <a:latin typeface="Calibri"/>
              </a:defRPr>
            </a:pPr>
            <a:r>
              <a:t>▸ Option B: Deploy backend to Railway (free tier), frontend to Vercel (free static hosting)</a:t>
            </a:r>
          </a:p>
          <a:p>
            <a:pPr>
              <a:spcBef>
                <a:spcPts val="400"/>
              </a:spcBef>
              <a:defRPr sz="1500">
                <a:solidFill>
                  <a:srgbClr val="334155"/>
                </a:solidFill>
                <a:latin typeface="Calibri"/>
              </a:defRPr>
            </a:pPr>
            <a:r>
              <a:t>▸ Option C: Use ngrok for temporary public URL: ngrok http 80</a:t>
            </a:r>
          </a:p>
          <a:p>
            <a:pPr>
              <a:spcBef>
                <a:spcPts val="400"/>
              </a:spcBef>
              <a:defRPr sz="1500">
                <a:solidFill>
                  <a:srgbClr val="334155"/>
                </a:solidFill>
                <a:latin typeface="Calibri"/>
              </a:defRPr>
            </a:pPr>
            <a:r>
              <a:t>▸ After deploy: replace the [URL] placeholder and regenerate QR codes</a:t>
            </a:r>
          </a:p>
        </p:txBody>
      </p:sp>
      <p:sp>
        <p:nvSpPr>
          <p:cNvPr id="17" name="TextBox 16"/>
          <p:cNvSpPr txBox="1"/>
          <p:nvPr/>
        </p:nvSpPr>
        <p:spPr>
          <a:xfrm>
            <a:off x="731520" y="6492240"/>
            <a:ext cx="10698480" cy="274320"/>
          </a:xfrm>
          <a:prstGeom prst="rect">
            <a:avLst/>
          </a:prstGeom>
          <a:noFill/>
        </p:spPr>
        <p:txBody>
          <a:bodyPr wrap="square">
            <a:spAutoFit/>
          </a:bodyPr>
          <a:lstStyle/>
          <a:p>
            <a:pPr algn="l">
              <a:defRPr sz="1300" b="0">
                <a:solidFill>
                  <a:srgbClr val="64748B"/>
                </a:solidFill>
                <a:latin typeface="Calibri"/>
              </a:defRPr>
            </a:pPr>
            <a:r>
              <a:t>Generate QR codes at: qrserver.com/create-qr-code  |  Replace placeholder URLs after deployment</a:t>
            </a:r>
          </a:p>
        </p:txBody>
      </p:sp>
      <p:sp>
        <p:nvSpPr>
          <p:cNvPr id="18" name="Rectangle 17"/>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