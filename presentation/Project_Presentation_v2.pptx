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My name is Marat Sharapov from Innopolis University, group CSE-04.</a:t>
            </a:r>
          </a:p>
          <a:p>
            <a:r>
              <a:t>I present Procurement Tracker — a mobile web application designed for marketplace sellers who need accurate per-unit cost calculations across all their procurement expenses.</a:t>
            </a:r>
          </a:p>
          <a:p>
            <a:r>
              <a:t>The full source code is available at github.com/MarikSH/Hakaton_SET_ZakupBot.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end users are marketplace sellers on platforms like Wildberries and Ozon — people who buy goods wholesale and resell them, plus small business owners and procurement managers.</a:t>
            </a:r>
          </a:p>
          <a:p/>
          <a:p>
            <a:r>
              <a:t>The problem: sellers often miscalculate their true per-unit cost because they don't properly distribute overhead expenses like delivery, packaging, warehouse rent, and worker salaries. This leads to incorrect pricing, underestimated costs, and lost profits.</a:t>
            </a:r>
          </a:p>
          <a:p/>
          <a:p>
            <a:r>
              <a:t>Our solution: enter your procurement, add all expenses in natural language, and the system automatically calculates the exact cost per unit of goods. Key formula: total_all_expenses / quantity_of_goods = true cost per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 Stack: Backend on FastAPI with PostgreSQL and SQLAlchemy ORM. Frontend uses React with Vite and TailwindCSS. PWA support, full i18n for Russian and English, PDF report export with Cyrillic fonts. Docker Compose for one-command deployment.</a:t>
            </a:r>
          </a:p>
          <a:p/>
          <a:p>
            <a:r>
              <a:t>Version 1 (MVP): Core API, NLP expense parser with 6 categories and 100+ bilingual keywords, the core per-unit formula, basic form UI, and Docker Compose.</a:t>
            </a:r>
          </a:p>
          <a:p/>
          <a:p>
            <a:r>
              <a:t>Version 2 (Product): PWA capabilities, internationalization, PDF export, procurement status tracking, history screen, dark theme, budget control with alerts.</a:t>
            </a:r>
          </a:p>
          <a:p/>
          <a:p>
            <a:r>
              <a:t>TA Feedback Addressed:</a:t>
            </a:r>
          </a:p>
          <a:p>
            <a:r>
              <a:t>1. Expanded NLP parser from 5 to 6+ categories with bilingual keywords</a:t>
            </a:r>
          </a:p>
          <a:p>
            <a:r>
              <a:t>2. Added budget control with visual progress bars and overspend alerts</a:t>
            </a:r>
          </a:p>
          <a:p>
            <a:r>
              <a:t>3. Improved UI with history screen, settings, and dark theme</a:t>
            </a:r>
          </a:p>
          <a:p>
            <a:r>
              <a:t>4. Added PDF export for professional reporting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part - the live demonstration of Version 2.</a:t>
            </a:r>
          </a:p>
          <a:p/>
          <a:p>
            <a:r>
              <a:t>Demo walkthrough:</a:t>
            </a:r>
          </a:p>
          <a:p>
            <a:r>
              <a:t>1. Create Procurement: Enter name and budget of 200,000 rubles.</a:t>
            </a:r>
          </a:p>
          <a:p>
            <a:r>
              <a:t>2. Add Products: 100 units at 1,000 rubles each = 100,000 rubles.</a:t>
            </a:r>
          </a:p>
          <a:p>
            <a:r>
              <a:t>3. NLP Expense Parsing: Type 'delivery 3000, packaging 40 per unit' - system auto-categorizes into delivery and packaging.</a:t>
            </a:r>
          </a:p>
          <a:p>
            <a:r>
              <a:t>4. View Report: Per-unit cost = 1,070 rubles (base price + overhead share).</a:t>
            </a:r>
          </a:p>
          <a:p>
            <a:r>
              <a:t>5. Export PDF: Download professional cost report.</a:t>
            </a:r>
          </a:p>
          <a:p>
            <a:r>
              <a:t>6. Complete and History: Mark done, appears in history.</a:t>
            </a:r>
          </a:p>
          <a:p/>
          <a:p>
            <a:r>
              <a:t>Please replace the video placeholder with your screen recording. Max 2 minutes with voice-over narration.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links:</a:t>
            </a:r>
          </a:p>
          <a:p/>
          <a:p>
            <a:r>
              <a:t>GitHub: github.com/MarikSH/Hakaton_SET_ZakupBot</a:t>
            </a:r>
          </a:p>
          <a:p>
            <a:r>
              <a:t>Complete source code for both backend and frontend with Docker Compose.</a:t>
            </a:r>
          </a:p>
          <a:p/>
          <a:p>
            <a:r>
              <a:t>Deployed Product: URL placeholder - will be replaced after deployment.</a:t>
            </a:r>
          </a:p>
          <a:p>
            <a:r>
              <a:t>Options:</a:t>
            </a:r>
          </a:p>
          <a:p>
            <a:r>
              <a:t>- VPS (~500 rub/mo): Install Docker, run docker-compose up</a:t>
            </a:r>
          </a:p>
          <a:p>
            <a:r>
              <a:t>- Railway (free): Backend with PostgreSQL</a:t>
            </a:r>
          </a:p>
          <a:p>
            <a:r>
              <a:t>- Vercel (free): Frontend static hosting</a:t>
            </a:r>
          </a:p>
          <a:p/>
          <a:p>
            <a:r>
              <a:t>QR codes generated via qrserver.com API.</a:t>
            </a:r>
          </a:p>
          <a:p/>
          <a:p>
            <a:r>
              <a:t>Thank you!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0" y="731520"/>
            <a:ext cx="914400" cy="914400"/>
          </a:xfrm>
          <a:prstGeom prst="rect">
            <a:avLst/>
          </a:prstGeom>
          <a:noFill/>
        </p:spPr>
        <p:txBody>
          <a:bodyPr wrap="square">
            <a:spAutoFit/>
          </a:bodyPr>
          <a:lstStyle/>
          <a:p>
            <a:pPr algn="ctr">
              <a:defRPr sz="5200" b="0">
                <a:solidFill>
                  <a:srgbClr val="334155"/>
                </a:solidFill>
                <a:latin typeface="Calibri"/>
              </a:defRPr>
            </a:pPr>
            <a:r>
              <a:t>📦</a:t>
            </a:r>
          </a:p>
        </p:txBody>
      </p:sp>
      <p:sp>
        <p:nvSpPr>
          <p:cNvPr id="4" name="TextBox 3"/>
          <p:cNvSpPr txBox="1"/>
          <p:nvPr/>
        </p:nvSpPr>
        <p:spPr>
          <a:xfrm>
            <a:off x="1371600" y="1645920"/>
            <a:ext cx="9418320" cy="1097280"/>
          </a:xfrm>
          <a:prstGeom prst="rect">
            <a:avLst/>
          </a:prstGeom>
          <a:noFill/>
        </p:spPr>
        <p:txBody>
          <a:bodyPr wrap="square">
            <a:spAutoFit/>
          </a:bodyPr>
          <a:lstStyle/>
          <a:p>
            <a:pPr algn="ctr">
              <a:defRPr sz="4400" b="1">
                <a:solidFill>
                  <a:srgbClr val="3B82F6"/>
                </a:solidFill>
                <a:latin typeface="Calibri Light"/>
              </a:defRPr>
            </a:pPr>
            <a:r>
              <a:t>Procurement Tracker</a:t>
            </a:r>
          </a:p>
        </p:txBody>
      </p:sp>
      <p:sp>
        <p:nvSpPr>
          <p:cNvPr id="5" name="TextBox 4"/>
          <p:cNvSpPr txBox="1"/>
          <p:nvPr/>
        </p:nvSpPr>
        <p:spPr>
          <a:xfrm>
            <a:off x="1371600" y="2651760"/>
            <a:ext cx="9418320" cy="731520"/>
          </a:xfrm>
          <a:prstGeom prst="rect">
            <a:avLst/>
          </a:prstGeom>
          <a:noFill/>
        </p:spPr>
        <p:txBody>
          <a:bodyPr wrap="square">
            <a:spAutoFit/>
          </a:bodyPr>
          <a:lstStyle/>
          <a:p>
            <a:pPr algn="ctr">
              <a:defRPr sz="2000" b="0">
                <a:solidFill>
                  <a:srgbClr val="64748B"/>
                </a:solidFill>
                <a:latin typeface="Calibri"/>
              </a:defRPr>
            </a:pPr>
            <a:r>
              <a:t>Mobile web app for marketplace sellers — tracking procurement costs with per-unit cost analysis and budget control</a:t>
            </a:r>
          </a:p>
        </p:txBody>
      </p:sp>
      <p:sp>
        <p:nvSpPr>
          <p:cNvPr id="6" name="Rectangle 5"/>
          <p:cNvSpPr/>
          <p:nvPr/>
        </p:nvSpPr>
        <p:spPr>
          <a:xfrm>
            <a:off x="5029200" y="3566160"/>
            <a:ext cx="210312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931920"/>
            <a:ext cx="9418320" cy="2286000"/>
          </a:xfrm>
          <a:prstGeom prst="rect">
            <a:avLst/>
          </a:prstGeom>
          <a:noFill/>
        </p:spPr>
        <p:txBody>
          <a:bodyPr wrap="square">
            <a:spAutoFit/>
          </a:bodyPr>
          <a:lstStyle/>
          <a:p>
            <a:pPr algn="ctr">
              <a:defRPr sz="2200" b="1">
                <a:solidFill>
                  <a:srgbClr val="1E3A5F"/>
                </a:solidFill>
                <a:latin typeface="Calibri"/>
              </a:defRPr>
            </a:pPr>
            <a:r>
              <a:t>Marat Sharapov</a:t>
            </a:r>
          </a:p>
          <a:p>
            <a:pPr algn="ctr">
              <a:spcBef>
                <a:spcPts val="600"/>
              </a:spcBef>
              <a:defRPr sz="1800" b="0">
                <a:solidFill>
                  <a:srgbClr val="64748B"/>
                </a:solidFill>
                <a:latin typeface="Calibri"/>
              </a:defRPr>
            </a:pPr>
            <a:r>
              <a:t>m.sharapov@innopolis.university</a:t>
            </a:r>
          </a:p>
          <a:p>
            <a:pPr algn="ctr">
              <a:spcBef>
                <a:spcPts val="600"/>
              </a:spcBef>
              <a:defRPr sz="1800" b="0">
                <a:solidFill>
                  <a:srgbClr val="64748B"/>
                </a:solidFill>
                <a:latin typeface="Calibri"/>
              </a:defRPr>
            </a:pPr>
            <a:r>
              <a:t>Group CSE-04</a:t>
            </a:r>
          </a:p>
          <a:p>
            <a:pPr algn="ctr">
              <a:spcBef>
                <a:spcPts val="600"/>
              </a:spcBef>
              <a:defRPr sz="800" b="0">
                <a:solidFill>
                  <a:srgbClr val="334155"/>
                </a:solidFill>
                <a:latin typeface="Calibri"/>
              </a:defRPr>
            </a:pPr>
          </a:p>
          <a:p>
            <a:pPr algn="ctr">
              <a:spcBef>
                <a:spcPts val="600"/>
              </a:spcBef>
              <a:defRPr sz="1600" b="1">
                <a:solidFill>
                  <a:srgbClr val="3B82F6"/>
                </a:solidFill>
                <a:latin typeface="Calibri"/>
              </a:defRPr>
            </a:pPr>
            <a:r>
              <a:t>github.com/MarikSH/Hakaton_SET_ZakupBot</a:t>
            </a:r>
          </a:p>
        </p:txBody>
      </p:sp>
      <p:sp>
        <p:nvSpPr>
          <p:cNvPr id="8" name="Rectangle 7"/>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4572000" cy="640080"/>
          </a:xfrm>
          <a:prstGeom prst="rect">
            <a:avLst/>
          </a:prstGeom>
          <a:noFill/>
        </p:spPr>
        <p:txBody>
          <a:bodyPr wrap="square">
            <a:spAutoFit/>
          </a:bodyPr>
          <a:lstStyle/>
          <a:p>
            <a:pPr algn="l">
              <a:defRPr sz="3200" b="1">
                <a:solidFill>
                  <a:srgbClr val="1E3A5F"/>
                </a:solidFill>
                <a:latin typeface="Calibri"/>
              </a:defRPr>
            </a:pPr>
            <a:r>
              <a:t>Context</a:t>
            </a:r>
          </a:p>
        </p:txBody>
      </p:sp>
      <p:sp>
        <p:nvSpPr>
          <p:cNvPr id="4" name="Rounded Rectangle 3"/>
          <p:cNvSpPr/>
          <p:nvPr/>
        </p:nvSpPr>
        <p:spPr>
          <a:xfrm>
            <a:off x="731520" y="1097280"/>
            <a:ext cx="10698480" cy="1463040"/>
          </a:xfrm>
          <a:prstGeom prst="roundRect">
            <a:avLst/>
          </a:prstGeom>
          <a:solidFill>
            <a:srgbClr val="EFF6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188720"/>
            <a:ext cx="10058400" cy="1280160"/>
          </a:xfrm>
          <a:prstGeom prst="rect">
            <a:avLst/>
          </a:prstGeom>
          <a:noFill/>
        </p:spPr>
        <p:txBody>
          <a:bodyPr wrap="square">
            <a:spAutoFit/>
          </a:bodyPr>
          <a:lstStyle/>
          <a:p>
            <a:pPr algn="l">
              <a:defRPr sz="2200" b="1">
                <a:solidFill>
                  <a:srgbClr val="1E3A5F"/>
                </a:solidFill>
                <a:latin typeface="Calibri"/>
              </a:defRPr>
            </a:pPr>
            <a:r>
              <a:t>End Users</a:t>
            </a:r>
          </a:p>
          <a:p>
            <a:pPr algn="l">
              <a:spcBef>
                <a:spcPts val="600"/>
              </a:spcBef>
              <a:defRPr sz="1800" b="0">
                <a:solidFill>
                  <a:srgbClr val="334155"/>
                </a:solidFill>
                <a:latin typeface="Calibri"/>
              </a:defRPr>
            </a:pPr>
            <a:r>
              <a:t>Marketplace sellers (Wildberries, Ozon), small business owners, and entrepreneurs who procure goods wholesale and need precise per-unit cost tracking including delivery, packaging, staff, and warehouse expenses.</a:t>
            </a:r>
          </a:p>
        </p:txBody>
      </p:sp>
      <p:sp>
        <p:nvSpPr>
          <p:cNvPr id="6" name="Rounded Rectangle 5"/>
          <p:cNvSpPr/>
          <p:nvPr/>
        </p:nvSpPr>
        <p:spPr>
          <a:xfrm>
            <a:off x="731520" y="2834640"/>
            <a:ext cx="4846320" cy="2011680"/>
          </a:xfrm>
          <a:prstGeom prst="roundRect">
            <a:avLst/>
          </a:prstGeom>
          <a:solidFill>
            <a:srgbClr val="FEF2F2"/>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26080"/>
            <a:ext cx="4389120" cy="1828800"/>
          </a:xfrm>
          <a:prstGeom prst="rect">
            <a:avLst/>
          </a:prstGeom>
          <a:noFill/>
        </p:spPr>
        <p:txBody>
          <a:bodyPr wrap="square">
            <a:spAutoFit/>
          </a:bodyPr>
          <a:lstStyle/>
          <a:p>
            <a:pPr algn="l">
              <a:defRPr sz="2100" b="1">
                <a:solidFill>
                  <a:srgbClr val="1E3A5F"/>
                </a:solidFill>
                <a:latin typeface="Calibri"/>
              </a:defRPr>
            </a:pPr>
            <a:r>
              <a:t>Problem</a:t>
            </a:r>
          </a:p>
          <a:p>
            <a:pPr algn="l">
              <a:spcBef>
                <a:spcPts val="600"/>
              </a:spcBef>
              <a:defRPr sz="1700" b="0">
                <a:solidFill>
                  <a:srgbClr val="334155"/>
                </a:solidFill>
                <a:latin typeface="Calibri"/>
              </a:defRPr>
            </a:pPr>
            <a:r>
              <a:t>Entrepreneurs lose money from inaccurate cost calculations</a:t>
            </a:r>
          </a:p>
          <a:p>
            <a:pPr algn="l">
              <a:spcBef>
                <a:spcPts val="600"/>
              </a:spcBef>
              <a:defRPr sz="1700" b="0">
                <a:solidFill>
                  <a:srgbClr val="334155"/>
                </a:solidFill>
                <a:latin typeface="Calibri"/>
              </a:defRPr>
            </a:pPr>
            <a:r>
              <a:t>Overhead expenses (delivery, packaging, warehouse, staff) distributed manually</a:t>
            </a:r>
          </a:p>
          <a:p>
            <a:pPr algn="l">
              <a:spcBef>
                <a:spcPts val="600"/>
              </a:spcBef>
              <a:defRPr sz="1700" b="0">
                <a:solidFill>
                  <a:srgbClr val="334155"/>
                </a:solidFill>
                <a:latin typeface="Calibri"/>
              </a:defRPr>
            </a:pPr>
            <a:r>
              <a:t>No budget control leads to overspending going unnoticed</a:t>
            </a:r>
          </a:p>
        </p:txBody>
      </p:sp>
      <p:sp>
        <p:nvSpPr>
          <p:cNvPr id="8" name="Rounded Rectangle 7"/>
          <p:cNvSpPr/>
          <p:nvPr/>
        </p:nvSpPr>
        <p:spPr>
          <a:xfrm>
            <a:off x="6583680" y="2834640"/>
            <a:ext cx="4846320" cy="2011680"/>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926080"/>
            <a:ext cx="4389120" cy="1828800"/>
          </a:xfrm>
          <a:prstGeom prst="rect">
            <a:avLst/>
          </a:prstGeom>
          <a:noFill/>
        </p:spPr>
        <p:txBody>
          <a:bodyPr wrap="square">
            <a:spAutoFit/>
          </a:bodyPr>
          <a:lstStyle/>
          <a:p>
            <a:pPr algn="l">
              <a:defRPr sz="2100" b="1">
                <a:solidFill>
                  <a:srgbClr val="1E3A5F"/>
                </a:solidFill>
                <a:latin typeface="Calibri"/>
              </a:defRPr>
            </a:pPr>
            <a:r>
              <a:t>Solution</a:t>
            </a:r>
          </a:p>
          <a:p>
            <a:pPr algn="l">
              <a:spcBef>
                <a:spcPts val="600"/>
              </a:spcBef>
              <a:defRPr sz="1700" b="1">
                <a:solidFill>
                  <a:srgbClr val="334155"/>
                </a:solidFill>
                <a:latin typeface="Calibri"/>
              </a:defRPr>
            </a:pPr>
            <a:r>
              <a:t>Automatic per-unit cost calculation:</a:t>
            </a:r>
          </a:p>
          <a:p>
            <a:pPr algn="l">
              <a:spcBef>
                <a:spcPts val="600"/>
              </a:spcBef>
              <a:defRPr sz="1700" b="0">
                <a:solidFill>
                  <a:srgbClr val="334155"/>
                </a:solidFill>
                <a:latin typeface="Calibri"/>
              </a:defRPr>
            </a:pPr>
            <a:r>
              <a:t>ALL expenses total divided by goods quantity = true cost per product</a:t>
            </a:r>
          </a:p>
          <a:p>
            <a:pPr algn="l">
              <a:spcBef>
                <a:spcPts val="600"/>
              </a:spcBef>
              <a:defRPr sz="1700" b="0">
                <a:solidFill>
                  <a:srgbClr val="334155"/>
                </a:solidFill>
                <a:latin typeface="Calibri"/>
              </a:defRPr>
            </a:pPr>
            <a:r>
              <a:t>Visual budget tracking with progress bars and overspend alerts</a:t>
            </a:r>
          </a:p>
        </p:txBody>
      </p:sp>
      <p:sp>
        <p:nvSpPr>
          <p:cNvPr id="10" name="TextBox 9"/>
          <p:cNvSpPr txBox="1"/>
          <p:nvPr/>
        </p:nvSpPr>
        <p:spPr>
          <a:xfrm>
            <a:off x="731520" y="5120640"/>
            <a:ext cx="10698480" cy="1371600"/>
          </a:xfrm>
          <a:prstGeom prst="rect">
            <a:avLst/>
          </a:prstGeom>
          <a:noFill/>
        </p:spPr>
        <p:txBody>
          <a:bodyPr wrap="square">
            <a:spAutoFit/>
          </a:bodyPr>
          <a:lstStyle/>
          <a:p>
            <a:pPr algn="l">
              <a:defRPr sz="1900" b="1">
                <a:solidFill>
                  <a:srgbClr val="1E3A5F"/>
                </a:solidFill>
                <a:latin typeface="Calibri"/>
              </a:defRPr>
            </a:pPr>
            <a:r>
              <a:t>Idea: "Enter your procurement, add expenses in natural language — get the exact cost per unit for accurate profit analysis."</a:t>
            </a:r>
          </a:p>
        </p:txBody>
      </p:sp>
      <p:sp>
        <p:nvSpPr>
          <p:cNvPr id="11" name="Rectangle 10"/>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5486400" cy="640080"/>
          </a:xfrm>
          <a:prstGeom prst="rect">
            <a:avLst/>
          </a:prstGeom>
          <a:noFill/>
        </p:spPr>
        <p:txBody>
          <a:bodyPr wrap="square">
            <a:spAutoFit/>
          </a:bodyPr>
          <a:lstStyle/>
          <a:p>
            <a:pPr algn="l">
              <a:defRPr sz="3200" b="1">
                <a:solidFill>
                  <a:srgbClr val="1E3A5F"/>
                </a:solidFill>
                <a:latin typeface="Calibri"/>
              </a:defRPr>
            </a:pPr>
            <a:r>
              <a:t>Implementation</a:t>
            </a:r>
          </a:p>
        </p:txBody>
      </p:sp>
      <p:sp>
        <p:nvSpPr>
          <p:cNvPr id="4" name="TextBox 3"/>
          <p:cNvSpPr txBox="1"/>
          <p:nvPr/>
        </p:nvSpPr>
        <p:spPr>
          <a:xfrm>
            <a:off x="731520" y="1097280"/>
            <a:ext cx="10698480" cy="1280160"/>
          </a:xfrm>
          <a:prstGeom prst="rect">
            <a:avLst/>
          </a:prstGeom>
          <a:noFill/>
        </p:spPr>
        <p:txBody>
          <a:bodyPr wrap="square">
            <a:spAutoFit/>
          </a:bodyPr>
          <a:lstStyle/>
          <a:p>
            <a:pPr algn="l">
              <a:defRPr sz="1700" b="0">
                <a:solidFill>
                  <a:srgbClr val="334155"/>
                </a:solidFill>
                <a:latin typeface="Calibri"/>
              </a:defRPr>
            </a:pPr>
            <a:r>
              <a:rPr sz="1700" b="1">
                <a:solidFill>
                  <a:srgbClr val="1E3A5F"/>
                </a:solidFill>
                <a:latin typeface="Calibri"/>
              </a:rPr>
              <a:t>Backend: </a:t>
            </a:r>
            <a:r>
              <a:rPr sz="1700">
                <a:solidFill>
                  <a:srgbClr val="334155"/>
                </a:solidFill>
                <a:latin typeface="Calibri"/>
              </a:rPr>
              <a:t>FastAPI (Python REST API)</a:t>
            </a:r>
          </a:p>
          <a:p>
            <a:pPr>
              <a:spcBef>
                <a:spcPts val="300"/>
              </a:spcBef>
            </a:pPr>
            <a:r>
              <a:rPr sz="1700" b="1">
                <a:solidFill>
                  <a:srgbClr val="1E3A5F"/>
                </a:solidFill>
                <a:latin typeface="Calibri"/>
              </a:rPr>
              <a:t>Database: </a:t>
            </a:r>
            <a:r>
              <a:rPr sz="1700">
                <a:solidFill>
                  <a:srgbClr val="334155"/>
                </a:solidFill>
                <a:latin typeface="Calibri"/>
              </a:rPr>
              <a:t>PostgreSQL + SQLAlchemy ORM</a:t>
            </a:r>
          </a:p>
          <a:p>
            <a:pPr>
              <a:spcBef>
                <a:spcPts val="300"/>
              </a:spcBef>
            </a:pPr>
            <a:r>
              <a:rPr sz="1700" b="1">
                <a:solidFill>
                  <a:srgbClr val="1E3A5F"/>
                </a:solidFill>
                <a:latin typeface="Calibri"/>
              </a:rPr>
              <a:t>Frontend: </a:t>
            </a:r>
            <a:r>
              <a:rPr sz="1700">
                <a:solidFill>
                  <a:srgbClr val="334155"/>
                </a:solidFill>
                <a:latin typeface="Calibri"/>
              </a:rPr>
              <a:t>React + Vite + TailwindCSS</a:t>
            </a:r>
          </a:p>
          <a:p>
            <a:pPr>
              <a:spcBef>
                <a:spcPts val="300"/>
              </a:spcBef>
            </a:pPr>
            <a:r>
              <a:rPr sz="1700" b="1">
                <a:solidFill>
                  <a:srgbClr val="1E3A5F"/>
                </a:solidFill>
                <a:latin typeface="Calibri"/>
              </a:rPr>
              <a:t>Features: </a:t>
            </a:r>
            <a:r>
              <a:rPr sz="1700">
                <a:solidFill>
                  <a:srgbClr val="334155"/>
                </a:solidFill>
                <a:latin typeface="Calibri"/>
              </a:rPr>
              <a:t>PWA + i18n (RU/EN) + PDF export + Dark theme</a:t>
            </a:r>
          </a:p>
          <a:p>
            <a:pPr>
              <a:spcBef>
                <a:spcPts val="300"/>
              </a:spcBef>
            </a:pPr>
            <a:r>
              <a:rPr sz="1700" b="1">
                <a:solidFill>
                  <a:srgbClr val="1E3A5F"/>
                </a:solidFill>
                <a:latin typeface="Calibri"/>
              </a:rPr>
              <a:t>Deploy: </a:t>
            </a:r>
            <a:r>
              <a:rPr sz="1700">
                <a:solidFill>
                  <a:srgbClr val="334155"/>
                </a:solidFill>
                <a:latin typeface="Calibri"/>
              </a:rPr>
              <a:t>Docker Compose -&gt; Railway/Vercel/VPS</a:t>
            </a:r>
          </a:p>
        </p:txBody>
      </p:sp>
      <p:sp>
        <p:nvSpPr>
          <p:cNvPr id="5" name="Rounded Rectangle 4"/>
          <p:cNvSpPr/>
          <p:nvPr/>
        </p:nvSpPr>
        <p:spPr>
          <a:xfrm>
            <a:off x="731520" y="2743200"/>
            <a:ext cx="5029200" cy="228600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788920"/>
            <a:ext cx="4572000" cy="2194560"/>
          </a:xfrm>
          <a:prstGeom prst="rect">
            <a:avLst/>
          </a:prstGeom>
          <a:noFill/>
        </p:spPr>
        <p:txBody>
          <a:bodyPr wrap="square">
            <a:spAutoFit/>
          </a:bodyPr>
          <a:lstStyle/>
          <a:p>
            <a:pPr algn="l">
              <a:defRPr sz="2100" b="1">
                <a:solidFill>
                  <a:srgbClr val="3B82F6"/>
                </a:solidFill>
                <a:latin typeface="Calibri"/>
              </a:defRPr>
            </a:pPr>
            <a:r>
              <a:t>Version 1.0 - MVP</a:t>
            </a:r>
          </a:p>
          <a:p>
            <a:pPr>
              <a:spcBef>
                <a:spcPts val="400"/>
              </a:spcBef>
              <a:defRPr sz="1600">
                <a:solidFill>
                  <a:srgbClr val="334155"/>
                </a:solidFill>
              </a:defRPr>
            </a:pPr>
            <a:r>
              <a:t> - Core API: create procurements, calculate expenses</a:t>
            </a:r>
          </a:p>
          <a:p>
            <a:pPr>
              <a:spcBef>
                <a:spcPts val="400"/>
              </a:spcBef>
              <a:defRPr sz="1600">
                <a:solidFill>
                  <a:srgbClr val="334155"/>
                </a:solidFill>
              </a:defRPr>
            </a:pPr>
            <a:r>
              <a:t> - NLP parser - 6 categories, 100+ keywords (RU/EN)</a:t>
            </a:r>
          </a:p>
          <a:p>
            <a:pPr>
              <a:spcBef>
                <a:spcPts val="400"/>
              </a:spcBef>
              <a:defRPr sz="1600">
                <a:solidFill>
                  <a:srgbClr val="334155"/>
                </a:solidFill>
              </a:defRPr>
            </a:pPr>
            <a:r>
              <a:t> - Formula: price_per_unit + (overhead / qty)</a:t>
            </a:r>
          </a:p>
          <a:p>
            <a:pPr>
              <a:spcBef>
                <a:spcPts val="400"/>
              </a:spcBef>
              <a:defRPr sz="1600">
                <a:solidFill>
                  <a:srgbClr val="334155"/>
                </a:solidFill>
              </a:defRPr>
            </a:pPr>
            <a:r>
              <a:t> - Basic form UI for products + free-text expenses</a:t>
            </a:r>
          </a:p>
          <a:p>
            <a:pPr>
              <a:spcBef>
                <a:spcPts val="400"/>
              </a:spcBef>
              <a:defRPr sz="1600">
                <a:solidFill>
                  <a:srgbClr val="334155"/>
                </a:solidFill>
              </a:defRPr>
            </a:pPr>
            <a:r>
              <a:t> - Docker Compose one-command deployment</a:t>
            </a:r>
          </a:p>
        </p:txBody>
      </p:sp>
      <p:sp>
        <p:nvSpPr>
          <p:cNvPr id="7" name="Rounded Rectangle 6"/>
          <p:cNvSpPr/>
          <p:nvPr/>
        </p:nvSpPr>
        <p:spPr>
          <a:xfrm>
            <a:off x="6217920" y="2743200"/>
            <a:ext cx="5029200" cy="228600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788920"/>
            <a:ext cx="4572000" cy="2194560"/>
          </a:xfrm>
          <a:prstGeom prst="rect">
            <a:avLst/>
          </a:prstGeom>
          <a:noFill/>
        </p:spPr>
        <p:txBody>
          <a:bodyPr wrap="square">
            <a:spAutoFit/>
          </a:bodyPr>
          <a:lstStyle/>
          <a:p>
            <a:pPr algn="l">
              <a:defRPr sz="2100" b="1">
                <a:solidFill>
                  <a:srgbClr val="22C55E"/>
                </a:solidFill>
                <a:latin typeface="Calibri"/>
              </a:defRPr>
            </a:pPr>
            <a:r>
              <a:t>Version 2.0 - Product</a:t>
            </a:r>
          </a:p>
          <a:p>
            <a:pPr>
              <a:spcBef>
                <a:spcPts val="300"/>
              </a:spcBef>
              <a:defRPr sz="1600">
                <a:solidFill>
                  <a:srgbClr val="334155"/>
                </a:solidFill>
              </a:defRPr>
            </a:pPr>
            <a:r>
              <a:t> - PWA - installable on mobile devices</a:t>
            </a:r>
          </a:p>
          <a:p>
            <a:pPr>
              <a:spcBef>
                <a:spcPts val="300"/>
              </a:spcBef>
              <a:defRPr sz="1600">
                <a:solidFill>
                  <a:srgbClr val="334155"/>
                </a:solidFill>
              </a:defRPr>
            </a:pPr>
            <a:r>
              <a:t> - i18n - full Russian + English localization</a:t>
            </a:r>
          </a:p>
          <a:p>
            <a:pPr>
              <a:spcBef>
                <a:spcPts val="300"/>
              </a:spcBef>
              <a:defRPr sz="1600">
                <a:solidFill>
                  <a:srgbClr val="334155"/>
                </a:solidFill>
              </a:defRPr>
            </a:pPr>
            <a:r>
              <a:t> - PDF export of cost reports (jsPDF + Cyrillic)</a:t>
            </a:r>
          </a:p>
          <a:p>
            <a:pPr>
              <a:spcBef>
                <a:spcPts val="300"/>
              </a:spcBef>
              <a:defRPr sz="1600">
                <a:solidFill>
                  <a:srgbClr val="334155"/>
                </a:solidFill>
              </a:defRPr>
            </a:pPr>
            <a:r>
              <a:t> - Procurement statuses: active -&gt; completed</a:t>
            </a:r>
          </a:p>
          <a:p>
            <a:pPr>
              <a:spcBef>
                <a:spcPts val="300"/>
              </a:spcBef>
              <a:defRPr sz="1600">
                <a:solidFill>
                  <a:srgbClr val="334155"/>
                </a:solidFill>
              </a:defRPr>
            </a:pPr>
            <a:r>
              <a:t> - History screen + budget control with alerts</a:t>
            </a:r>
          </a:p>
          <a:p>
            <a:pPr>
              <a:spcBef>
                <a:spcPts val="300"/>
              </a:spcBef>
              <a:defRPr sz="1600">
                <a:solidFill>
                  <a:srgbClr val="334155"/>
                </a:solidFill>
              </a:defRPr>
            </a:pPr>
            <a:r>
              <a:t> - Dark theme + settings modal</a:t>
            </a:r>
          </a:p>
        </p:txBody>
      </p:sp>
      <p:sp>
        <p:nvSpPr>
          <p:cNvPr id="9" name="TextBox 8"/>
          <p:cNvSpPr txBox="1"/>
          <p:nvPr/>
        </p:nvSpPr>
        <p:spPr>
          <a:xfrm>
            <a:off x="731520" y="5212080"/>
            <a:ext cx="10972800" cy="365760"/>
          </a:xfrm>
          <a:prstGeom prst="rect">
            <a:avLst/>
          </a:prstGeom>
          <a:noFill/>
        </p:spPr>
        <p:txBody>
          <a:bodyPr wrap="square">
            <a:spAutoFit/>
          </a:bodyPr>
          <a:lstStyle/>
          <a:p>
            <a:pPr algn="l">
              <a:defRPr sz="1800" b="1">
                <a:solidFill>
                  <a:srgbClr val="22C55E"/>
                </a:solidFill>
                <a:latin typeface="Calibri"/>
              </a:defRPr>
            </a:pPr>
            <a:r>
              <a:t>TA Feedback Addressed:</a:t>
            </a:r>
          </a:p>
        </p:txBody>
      </p:sp>
      <p:sp>
        <p:nvSpPr>
          <p:cNvPr id="10" name="Rounded Rectangle 9"/>
          <p:cNvSpPr/>
          <p:nvPr/>
        </p:nvSpPr>
        <p:spPr>
          <a:xfrm>
            <a:off x="731520" y="5577840"/>
            <a:ext cx="10698480" cy="1005840"/>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23560"/>
            <a:ext cx="10241280" cy="914400"/>
          </a:xfrm>
          <a:prstGeom prst="rect">
            <a:avLst/>
          </a:prstGeom>
          <a:noFill/>
        </p:spPr>
        <p:txBody>
          <a:bodyPr wrap="square">
            <a:spAutoFit/>
          </a:bodyPr>
          <a:lstStyle/>
          <a:p>
            <a:pPr algn="l">
              <a:defRPr sz="1500" b="0">
                <a:solidFill>
                  <a:srgbClr val="334155"/>
                </a:solidFill>
                <a:latin typeface="Calibri"/>
              </a:defRPr>
            </a:pPr>
            <a:r>
              <a:t> [check] Expanded NLP parser from 5 to 6+ categories with bilingual keywords (RU/EN)</a:t>
            </a:r>
          </a:p>
          <a:p>
            <a:pPr>
              <a:spcBef>
                <a:spcPts val="200"/>
              </a:spcBef>
              <a:defRPr sz="1500">
                <a:solidFill>
                  <a:srgbClr val="334155"/>
                </a:solidFill>
              </a:defRPr>
            </a:pPr>
            <a:r>
              <a:t> [check] Added budget control with visual progress bars and overspend alerts</a:t>
            </a:r>
          </a:p>
          <a:p>
            <a:pPr>
              <a:spcBef>
                <a:spcPts val="200"/>
              </a:spcBef>
              <a:defRPr sz="1500">
                <a:solidFill>
                  <a:srgbClr val="334155"/>
                </a:solidFill>
              </a:defRPr>
            </a:pPr>
            <a:r>
              <a:t> [check] Improved UI: added history screen, settings modal, and dark theme support</a:t>
            </a:r>
          </a:p>
          <a:p>
            <a:pPr>
              <a:spcBef>
                <a:spcPts val="200"/>
              </a:spcBef>
              <a:defRPr sz="1500">
                <a:solidFill>
                  <a:srgbClr val="334155"/>
                </a:solidFill>
              </a:defRPr>
            </a:pPr>
            <a:r>
              <a:t> [check] Added PDF export with Cyrillic font support for professional reporting</a:t>
            </a:r>
          </a:p>
        </p:txBody>
      </p:sp>
      <p:sp>
        <p:nvSpPr>
          <p:cNvPr id="12" name="Rectangle 11"/>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5486400" cy="640080"/>
          </a:xfrm>
          <a:prstGeom prst="rect">
            <a:avLst/>
          </a:prstGeom>
          <a:noFill/>
        </p:spPr>
        <p:txBody>
          <a:bodyPr wrap="square">
            <a:spAutoFit/>
          </a:bodyPr>
          <a:lstStyle/>
          <a:p>
            <a:pPr algn="l">
              <a:defRPr sz="3200" b="1">
                <a:solidFill>
                  <a:srgbClr val="1E3A5F"/>
                </a:solidFill>
                <a:latin typeface="Calibri"/>
              </a:defRPr>
            </a:pPr>
            <a:r>
              <a:t>Demo - Version 2.0</a:t>
            </a:r>
          </a:p>
        </p:txBody>
      </p:sp>
      <p:sp>
        <p:nvSpPr>
          <p:cNvPr id="4" name="Rounded Rectangle 3"/>
          <p:cNvSpPr/>
          <p:nvPr/>
        </p:nvSpPr>
        <p:spPr>
          <a:xfrm>
            <a:off x="731520" y="1097280"/>
            <a:ext cx="68580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6858000" cy="914400"/>
          </a:xfrm>
          <a:prstGeom prst="rect">
            <a:avLst/>
          </a:prstGeom>
          <a:noFill/>
        </p:spPr>
        <p:txBody>
          <a:bodyPr wrap="square">
            <a:spAutoFit/>
          </a:bodyPr>
          <a:lstStyle/>
          <a:p>
            <a:pPr algn="ctr">
              <a:defRPr sz="6000" b="0">
                <a:solidFill>
                  <a:srgbClr val="94A3B8"/>
                </a:solidFill>
                <a:latin typeface="Calibri"/>
              </a:defRPr>
            </a:pPr>
          </a:p>
        </p:txBody>
      </p:sp>
      <p:sp>
        <p:nvSpPr>
          <p:cNvPr id="6" name="TextBox 5"/>
          <p:cNvSpPr txBox="1"/>
          <p:nvPr/>
        </p:nvSpPr>
        <p:spPr>
          <a:xfrm>
            <a:off x="731520" y="2560320"/>
            <a:ext cx="6858000" cy="548640"/>
          </a:xfrm>
          <a:prstGeom prst="rect">
            <a:avLst/>
          </a:prstGeom>
          <a:noFill/>
        </p:spPr>
        <p:txBody>
          <a:bodyPr wrap="square">
            <a:spAutoFit/>
          </a:bodyPr>
          <a:lstStyle/>
          <a:p>
            <a:pPr algn="ctr">
              <a:defRPr sz="2200" b="1">
                <a:solidFill>
                  <a:srgbClr val="94A3B8"/>
                </a:solidFill>
                <a:latin typeface="Calibri"/>
              </a:defRPr>
            </a:pPr>
            <a:r>
              <a:t>Pre-recorded Video Demonstration</a:t>
            </a:r>
          </a:p>
        </p:txBody>
      </p:sp>
      <p:sp>
        <p:nvSpPr>
          <p:cNvPr id="7" name="TextBox 6"/>
          <p:cNvSpPr txBox="1"/>
          <p:nvPr/>
        </p:nvSpPr>
        <p:spPr>
          <a:xfrm>
            <a:off x="731520" y="3200400"/>
            <a:ext cx="6858000" cy="1645920"/>
          </a:xfrm>
          <a:prstGeom prst="rect">
            <a:avLst/>
          </a:prstGeom>
          <a:noFill/>
        </p:spPr>
        <p:txBody>
          <a:bodyPr wrap="square">
            <a:spAutoFit/>
          </a:bodyPr>
          <a:lstStyle/>
          <a:p>
            <a:pPr algn="ctr">
              <a:defRPr sz="1500" b="0">
                <a:solidFill>
                  <a:srgbClr val="64748B"/>
                </a:solidFill>
                <a:latin typeface="Calibri"/>
              </a:defRPr>
            </a:pPr>
            <a:r>
              <a:t>Insert your demo video here (mp4, up to 2 minutes with voice-over)</a:t>
            </a:r>
            <a:br/>
            <a:br/>
            <a:r>
              <a:t>PowerPoint: Insert -&gt; Video -&gt; This Device -&gt; select demo.mp4</a:t>
            </a:r>
            <a:br/>
            <a:br/>
            <a:r>
              <a:t>This is the MOST IMPORTANT slide - ensure the demo shows:</a:t>
            </a:r>
            <a:br/>
            <a:r>
              <a:t>  - Procurement creation</a:t>
            </a:r>
            <a:br/>
            <a:r>
              <a:t>  - NLP expense parsing</a:t>
            </a:r>
            <a:br/>
            <a:r>
              <a:t>  - Per-unit cost calculation</a:t>
            </a:r>
            <a:br/>
            <a:r>
              <a:t>  - PDF export</a:t>
            </a:r>
          </a:p>
        </p:txBody>
      </p:sp>
      <p:sp>
        <p:nvSpPr>
          <p:cNvPr id="8" name="Rounded Rectangle 7"/>
          <p:cNvSpPr/>
          <p:nvPr/>
        </p:nvSpPr>
        <p:spPr>
          <a:xfrm>
            <a:off x="8046720" y="1097280"/>
            <a:ext cx="3474720" cy="4114800"/>
          </a:xfrm>
          <a:prstGeom prst="roundRect">
            <a:avLst/>
          </a:prstGeom>
          <a:solidFill>
            <a:srgbClr val="F8FAFC"/>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188720"/>
            <a:ext cx="3108960" cy="3931920"/>
          </a:xfrm>
          <a:prstGeom prst="rect">
            <a:avLst/>
          </a:prstGeom>
          <a:noFill/>
        </p:spPr>
        <p:txBody>
          <a:bodyPr wrap="square">
            <a:spAutoFit/>
          </a:bodyPr>
          <a:lstStyle/>
          <a:p>
            <a:pPr algn="l">
              <a:defRPr sz="2000" b="1">
                <a:solidFill>
                  <a:srgbClr val="1E3A5F"/>
                </a:solidFill>
                <a:latin typeface="Calibri"/>
              </a:defRPr>
            </a:pPr>
            <a:r>
              <a:t>Demo Flow</a:t>
            </a:r>
          </a:p>
          <a:p>
            <a:pPr>
              <a:spcBef>
                <a:spcPts val="300"/>
              </a:spcBef>
              <a:defRPr sz="1400" b="1">
                <a:solidFill>
                  <a:srgbClr val="334155"/>
                </a:solidFill>
              </a:defRPr>
            </a:pPr>
            <a:r>
              <a:t>1. Create Procurement</a:t>
            </a:r>
          </a:p>
          <a:p>
            <a:pPr>
              <a:spcBef>
                <a:spcPts val="300"/>
              </a:spcBef>
              <a:defRPr sz="1400">
                <a:solidFill>
                  <a:srgbClr val="334155"/>
                </a:solidFill>
              </a:defRPr>
            </a:pPr>
            <a:r>
              <a:t>   Enter name + budget (200K rub)</a:t>
            </a:r>
          </a:p>
          <a:p>
            <a:pPr>
              <a:spcBef>
                <a:spcPts val="300"/>
              </a:spcBef>
              <a:defRPr sz="1400" b="1">
                <a:solidFill>
                  <a:srgbClr val="334155"/>
                </a:solidFill>
              </a:defRPr>
            </a:pPr>
            <a:r>
              <a:t>2. Add Products</a:t>
            </a:r>
          </a:p>
          <a:p>
            <a:pPr>
              <a:spcBef>
                <a:spcPts val="300"/>
              </a:spcBef>
              <a:defRPr sz="1400">
                <a:solidFill>
                  <a:srgbClr val="334155"/>
                </a:solidFill>
              </a:defRPr>
            </a:pPr>
            <a:r>
              <a:t>   e.g., 100 units x 1,000 rub</a:t>
            </a:r>
          </a:p>
          <a:p>
            <a:pPr>
              <a:spcBef>
                <a:spcPts val="300"/>
              </a:spcBef>
              <a:defRPr sz="1400" b="1">
                <a:solidFill>
                  <a:srgbClr val="334155"/>
                </a:solidFill>
              </a:defRPr>
            </a:pPr>
            <a:r>
              <a:t>3. NLP Expense Parse</a:t>
            </a:r>
          </a:p>
          <a:p>
            <a:pPr>
              <a:spcBef>
                <a:spcPts val="300"/>
              </a:spcBef>
              <a:defRPr sz="1400">
                <a:solidFill>
                  <a:srgbClr val="334155"/>
                </a:solidFill>
              </a:defRPr>
            </a:pPr>
            <a:r>
              <a:t>   'Delivery 3000, pkg 40/unit'</a:t>
            </a:r>
          </a:p>
          <a:p>
            <a:pPr>
              <a:spcBef>
                <a:spcPts val="300"/>
              </a:spcBef>
              <a:defRPr sz="1400" b="1">
                <a:solidFill>
                  <a:srgbClr val="334155"/>
                </a:solidFill>
              </a:defRPr>
            </a:pPr>
            <a:r>
              <a:t>4. View Report</a:t>
            </a:r>
          </a:p>
          <a:p>
            <a:pPr>
              <a:spcBef>
                <a:spcPts val="300"/>
              </a:spcBef>
              <a:defRPr sz="1400">
                <a:solidFill>
                  <a:srgbClr val="334155"/>
                </a:solidFill>
              </a:defRPr>
            </a:pPr>
            <a:r>
              <a:t>   Per-unit cost = 1,070 rub/unit</a:t>
            </a:r>
          </a:p>
          <a:p>
            <a:pPr>
              <a:spcBef>
                <a:spcPts val="300"/>
              </a:spcBef>
              <a:defRPr sz="1400" b="1">
                <a:solidFill>
                  <a:srgbClr val="334155"/>
                </a:solidFill>
              </a:defRPr>
            </a:pPr>
            <a:r>
              <a:t>5. Export PDF</a:t>
            </a:r>
          </a:p>
          <a:p>
            <a:pPr>
              <a:spcBef>
                <a:spcPts val="300"/>
              </a:spcBef>
              <a:defRPr sz="1400">
                <a:solidFill>
                  <a:srgbClr val="334155"/>
                </a:solidFill>
              </a:defRPr>
            </a:pPr>
            <a:r>
              <a:t>   Download full cost report</a:t>
            </a:r>
          </a:p>
          <a:p>
            <a:pPr>
              <a:spcBef>
                <a:spcPts val="300"/>
              </a:spcBef>
              <a:defRPr sz="1400" b="1">
                <a:solidFill>
                  <a:srgbClr val="334155"/>
                </a:solidFill>
              </a:defRPr>
            </a:pPr>
            <a:r>
              <a:t>6. Complete + History</a:t>
            </a:r>
          </a:p>
          <a:p>
            <a:pPr>
              <a:spcBef>
                <a:spcPts val="300"/>
              </a:spcBef>
              <a:defRPr sz="1400">
                <a:solidFill>
                  <a:srgbClr val="334155"/>
                </a:solidFill>
              </a:defRPr>
            </a:pPr>
            <a:r>
              <a:t>   Mark done, review later</a:t>
            </a:r>
          </a:p>
        </p:txBody>
      </p:sp>
      <p:sp>
        <p:nvSpPr>
          <p:cNvPr id="10" name="Rounded Rectangle 9"/>
          <p:cNvSpPr/>
          <p:nvPr/>
        </p:nvSpPr>
        <p:spPr>
          <a:xfrm>
            <a:off x="731520" y="5394960"/>
            <a:ext cx="6858000" cy="1188720"/>
          </a:xfrm>
          <a:prstGeom prst="roundRect">
            <a:avLst/>
          </a:prstGeom>
          <a:solidFill>
            <a:srgbClr val="FFFBEB"/>
          </a:solidFill>
          <a:ln w="25400">
            <a:solidFill>
              <a:srgbClr val="FBB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440680"/>
            <a:ext cx="6400800" cy="1097280"/>
          </a:xfrm>
          <a:prstGeom prst="rect">
            <a:avLst/>
          </a:prstGeom>
          <a:noFill/>
        </p:spPr>
        <p:txBody>
          <a:bodyPr wrap="square">
            <a:spAutoFit/>
          </a:bodyPr>
          <a:lstStyle/>
          <a:p>
            <a:pPr algn="l">
              <a:defRPr sz="1800" b="1">
                <a:solidFill>
                  <a:srgbClr val="1E3A5F"/>
                </a:solidFill>
                <a:latin typeface="Calibri"/>
              </a:defRPr>
            </a:pPr>
            <a:r>
              <a:t>MOST IMPORTANT SLIDE</a:t>
            </a:r>
          </a:p>
          <a:p>
            <a:pPr algn="l">
              <a:spcBef>
                <a:spcPts val="600"/>
              </a:spcBef>
              <a:defRPr sz="1500" b="0">
                <a:solidFill>
                  <a:srgbClr val="334155"/>
                </a:solidFill>
                <a:latin typeface="Calibri"/>
              </a:defRPr>
            </a:pPr>
            <a:r>
              <a:t>The demo video is the critical part of this presentation. It must show the complete V2 workflow: procurement creation, NLP parsing, per-unit calculation, and PDF export - all within 2 minutes with voice-over.</a:t>
            </a:r>
          </a:p>
        </p:txBody>
      </p:sp>
      <p:sp>
        <p:nvSpPr>
          <p:cNvPr id="12" name="Rectangle 11"/>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5486400" cy="640080"/>
          </a:xfrm>
          <a:prstGeom prst="rect">
            <a:avLst/>
          </a:prstGeom>
          <a:noFill/>
        </p:spPr>
        <p:txBody>
          <a:bodyPr wrap="square">
            <a:spAutoFit/>
          </a:bodyPr>
          <a:lstStyle/>
          <a:p>
            <a:pPr algn="l">
              <a:defRPr sz="3200" b="1">
                <a:solidFill>
                  <a:srgbClr val="1E3A5F"/>
                </a:solidFill>
                <a:latin typeface="Calibri"/>
              </a:defRPr>
            </a:pPr>
            <a:r>
              <a:t>Links and QR Codes</a:t>
            </a:r>
          </a:p>
        </p:txBody>
      </p:sp>
      <p:sp>
        <p:nvSpPr>
          <p:cNvPr id="4" name="Rounded Rectangle 3"/>
          <p:cNvSpPr/>
          <p:nvPr/>
        </p:nvSpPr>
        <p:spPr>
          <a:xfrm>
            <a:off x="731520" y="1097280"/>
            <a:ext cx="10698480" cy="2286000"/>
          </a:xfrm>
          <a:prstGeom prst="roundRect">
            <a:avLst/>
          </a:prstGeom>
          <a:solidFill>
            <a:srgbClr val="F8FAFC"/>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188720"/>
            <a:ext cx="6400800" cy="914400"/>
          </a:xfrm>
          <a:prstGeom prst="rect">
            <a:avLst/>
          </a:prstGeom>
          <a:noFill/>
        </p:spPr>
        <p:txBody>
          <a:bodyPr wrap="square">
            <a:spAutoFit/>
          </a:bodyPr>
          <a:lstStyle/>
          <a:p>
            <a:pPr algn="l">
              <a:defRPr sz="2200" b="1">
                <a:solidFill>
                  <a:srgbClr val="1E3A5F"/>
                </a:solidFill>
                <a:latin typeface="Calibri"/>
              </a:defRPr>
            </a:pPr>
            <a:r>
              <a:t>GitHub Repository</a:t>
            </a:r>
          </a:p>
          <a:p>
            <a:pPr algn="l">
              <a:spcBef>
                <a:spcPts val="600"/>
              </a:spcBef>
              <a:defRPr sz="1700" b="1">
                <a:solidFill>
                  <a:srgbClr val="3B82F6"/>
                </a:solidFill>
                <a:latin typeface="Calibri"/>
              </a:defRPr>
            </a:pPr>
            <a:r>
              <a:t>github.com/MarikSH/Hakaton_SET_ZakupBot</a:t>
            </a:r>
          </a:p>
          <a:p>
            <a:pPr algn="l">
              <a:spcBef>
                <a:spcPts val="600"/>
              </a:spcBef>
              <a:defRPr sz="1500" b="0">
                <a:solidFill>
                  <a:srgbClr val="64748B"/>
                </a:solidFill>
                <a:latin typeface="Calibri"/>
              </a:defRPr>
            </a:pPr>
            <a:r>
              <a:t>Full source code - backend (FastAPI), frontend (React), Docker Compose</a:t>
            </a:r>
          </a:p>
        </p:txBody>
      </p:sp>
      <p:pic>
        <p:nvPicPr>
          <p:cNvPr id="6" name="Picture 5" descr="qr_github.png"/>
          <p:cNvPicPr>
            <a:picLocks noChangeAspect="1"/>
          </p:cNvPicPr>
          <p:nvPr/>
        </p:nvPicPr>
        <p:blipFill>
          <a:blip r:embed="rId2"/>
          <a:stretch>
            <a:fillRect/>
          </a:stretch>
        </p:blipFill>
        <p:spPr>
          <a:xfrm>
            <a:off x="8686800" y="1280160"/>
            <a:ext cx="2011680" cy="2011680"/>
          </a:xfrm>
          <a:prstGeom prst="rect">
            <a:avLst/>
          </a:prstGeom>
        </p:spPr>
      </p:pic>
      <p:sp>
        <p:nvSpPr>
          <p:cNvPr id="7" name="TextBox 6"/>
          <p:cNvSpPr txBox="1"/>
          <p:nvPr/>
        </p:nvSpPr>
        <p:spPr>
          <a:xfrm>
            <a:off x="8686800" y="3337560"/>
            <a:ext cx="2286000" cy="274320"/>
          </a:xfrm>
          <a:prstGeom prst="rect">
            <a:avLst/>
          </a:prstGeom>
          <a:noFill/>
        </p:spPr>
        <p:txBody>
          <a:bodyPr wrap="square">
            <a:spAutoFit/>
          </a:bodyPr>
          <a:lstStyle/>
          <a:p>
            <a:pPr algn="ctr">
              <a:defRPr sz="1300" b="0">
                <a:solidFill>
                  <a:srgbClr val="64748B"/>
                </a:solidFill>
                <a:latin typeface="Calibri"/>
              </a:defRPr>
            </a:pPr>
            <a:r>
              <a:t>Scan to open GitHub</a:t>
            </a:r>
          </a:p>
        </p:txBody>
      </p:sp>
      <p:sp>
        <p:nvSpPr>
          <p:cNvPr id="8" name="Rounded Rectangle 7"/>
          <p:cNvSpPr/>
          <p:nvPr/>
        </p:nvSpPr>
        <p:spPr>
          <a:xfrm>
            <a:off x="731520" y="3749039"/>
            <a:ext cx="10698480" cy="2286000"/>
          </a:xfrm>
          <a:prstGeom prst="roundRect">
            <a:avLst/>
          </a:prstGeom>
          <a:solidFill>
            <a:srgbClr val="F8FAFC"/>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840480"/>
            <a:ext cx="6400800" cy="914400"/>
          </a:xfrm>
          <a:prstGeom prst="rect">
            <a:avLst/>
          </a:prstGeom>
          <a:noFill/>
        </p:spPr>
        <p:txBody>
          <a:bodyPr wrap="square">
            <a:spAutoFit/>
          </a:bodyPr>
          <a:lstStyle/>
          <a:p>
            <a:pPr algn="l">
              <a:defRPr sz="2200" b="1">
                <a:solidFill>
                  <a:srgbClr val="1E3A5F"/>
                </a:solidFill>
                <a:latin typeface="Calibri"/>
              </a:defRPr>
            </a:pPr>
            <a:r>
              <a:t>Deployed Product (Latest Version)</a:t>
            </a:r>
          </a:p>
          <a:p>
            <a:pPr algn="l">
              <a:spcBef>
                <a:spcPts val="600"/>
              </a:spcBef>
              <a:defRPr sz="1700" b="1">
                <a:solidFill>
                  <a:srgbClr val="64748B"/>
                </a:solidFill>
                <a:latin typeface="Calibri"/>
              </a:defRPr>
            </a:pPr>
            <a:r>
              <a:t>[URL after deployment]</a:t>
            </a:r>
          </a:p>
          <a:p>
            <a:pPr algn="l">
              <a:spcBef>
                <a:spcPts val="600"/>
              </a:spcBef>
              <a:defRPr sz="1500" b="0">
                <a:solidFill>
                  <a:srgbClr val="64748B"/>
                </a:solidFill>
                <a:latin typeface="Calibri"/>
              </a:defRPr>
            </a:pPr>
            <a:r>
              <a:t>Deploy: Docker Compose on VPS or Railway (backend) + Vercel (frontend)</a:t>
            </a:r>
          </a:p>
        </p:txBody>
      </p:sp>
      <p:pic>
        <p:nvPicPr>
          <p:cNvPr id="10" name="Picture 9" descr="qr_github.png"/>
          <p:cNvPicPr>
            <a:picLocks noChangeAspect="1"/>
          </p:cNvPicPr>
          <p:nvPr/>
        </p:nvPicPr>
        <p:blipFill>
          <a:blip r:embed="rId2"/>
          <a:stretch>
            <a:fillRect/>
          </a:stretch>
        </p:blipFill>
        <p:spPr>
          <a:xfrm>
            <a:off x="8686800" y="3931920"/>
            <a:ext cx="2011680" cy="2011680"/>
          </a:xfrm>
          <a:prstGeom prst="rect">
            <a:avLst/>
          </a:prstGeom>
        </p:spPr>
      </p:pic>
      <p:sp>
        <p:nvSpPr>
          <p:cNvPr id="11" name="TextBox 10"/>
          <p:cNvSpPr txBox="1"/>
          <p:nvPr/>
        </p:nvSpPr>
        <p:spPr>
          <a:xfrm>
            <a:off x="8686800" y="5989320"/>
            <a:ext cx="2286000" cy="274320"/>
          </a:xfrm>
          <a:prstGeom prst="rect">
            <a:avLst/>
          </a:prstGeom>
          <a:noFill/>
        </p:spPr>
        <p:txBody>
          <a:bodyPr wrap="square">
            <a:spAutoFit/>
          </a:bodyPr>
          <a:lstStyle/>
          <a:p>
            <a:pPr algn="ctr">
              <a:defRPr sz="1300" b="0">
                <a:solidFill>
                  <a:srgbClr val="64748B"/>
                </a:solidFill>
                <a:latin typeface="Calibri"/>
              </a:defRPr>
            </a:pPr>
            <a:r>
              <a:t>Scan after deploy</a:t>
            </a:r>
          </a:p>
        </p:txBody>
      </p:sp>
      <p:sp>
        <p:nvSpPr>
          <p:cNvPr id="12" name="TextBox 11"/>
          <p:cNvSpPr txBox="1"/>
          <p:nvPr/>
        </p:nvSpPr>
        <p:spPr>
          <a:xfrm>
            <a:off x="731520" y="6217920"/>
            <a:ext cx="7498079" cy="457200"/>
          </a:xfrm>
          <a:prstGeom prst="rect">
            <a:avLst/>
          </a:prstGeom>
          <a:noFill/>
        </p:spPr>
        <p:txBody>
          <a:bodyPr wrap="square">
            <a:spAutoFit/>
          </a:bodyPr>
          <a:lstStyle/>
          <a:p>
            <a:pPr algn="l">
              <a:defRPr sz="1300" b="0">
                <a:solidFill>
                  <a:srgbClr val="64748B"/>
                </a:solidFill>
                <a:latin typeface="Calibri"/>
              </a:defRPr>
            </a:pPr>
            <a:r>
              <a:t>Deploy steps: 1) Rent VPS / Use Railway free tier  2) docker compose up -d  3) Replace URL above and regenerate QR</a:t>
            </a:r>
          </a:p>
        </p:txBody>
      </p:sp>
      <p:sp>
        <p:nvSpPr>
          <p:cNvPr id="13" name="Rectangle 12"/>
          <p:cNvSpPr/>
          <p:nvPr/>
        </p:nvSpPr>
        <p:spPr>
          <a:xfrm>
            <a:off x="0" y="6784848"/>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